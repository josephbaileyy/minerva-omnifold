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4d77271bf4200" /><Relationship Type="http://schemas.openxmlformats.org/officeDocument/2006/relationships/extended-properties" Target="/docProps/app.xml" Id="Rf1afd8c383104e17" /><Relationship Type="http://schemas.openxmlformats.org/officeDocument/2006/relationships/officeDocument" Target="/ppt/presentation.xml" Id="R43b3c428210e435b" /></Relationships>
</file>

<file path=ppt/presentation.xml><?xml version="1.0" encoding="utf-8"?>
<p:presentation xmlns:p="http://schemas.openxmlformats.org/presentationml/2006/main">
  <p:sldMasterIdLst>
    <p:sldMasterId xmlns:r="http://schemas.openxmlformats.org/officeDocument/2006/relationships" id="2147483648" r:id="Reca66ccb0af54034"/>
  </p:sldMasterIdLst>
  <p:notesMasterIdLst>
    <p:notesMasterId xmlns:r="http://schemas.openxmlformats.org/officeDocument/2006/relationships" r:id="R284f96d89e2d46e8"/>
  </p:notesMasterIdLst>
  <p:sldIdLst>
    <p:sldId xmlns:r="http://schemas.openxmlformats.org/officeDocument/2006/relationships" id="256" r:id="Redbf55629bc24893"/>
    <p:sldId xmlns:r="http://schemas.openxmlformats.org/officeDocument/2006/relationships" id="257" r:id="Rcbb62e02c9824a00"/>
    <p:sldId xmlns:r="http://schemas.openxmlformats.org/officeDocument/2006/relationships" id="258" r:id="R10ee83f18ddc4b4b"/>
    <p:sldId xmlns:r="http://schemas.openxmlformats.org/officeDocument/2006/relationships" id="259" r:id="R960490ba122e4ec5"/>
    <p:sldId xmlns:r="http://schemas.openxmlformats.org/officeDocument/2006/relationships" id="260" r:id="R7af419f436c2469d"/>
    <p:sldId xmlns:r="http://schemas.openxmlformats.org/officeDocument/2006/relationships" id="261" r:id="R801f5dccfc084238"/>
    <p:sldId xmlns:r="http://schemas.openxmlformats.org/officeDocument/2006/relationships" id="262" r:id="Rbaaba7afa43c457d"/>
    <p:sldId xmlns:r="http://schemas.openxmlformats.org/officeDocument/2006/relationships" id="263" r:id="R59ec721515064ed7"/>
    <p:sldId xmlns:r="http://schemas.openxmlformats.org/officeDocument/2006/relationships" id="264" r:id="R72f20ce99f8b4fb0"/>
    <p:sldId xmlns:r="http://schemas.openxmlformats.org/officeDocument/2006/relationships" id="265" r:id="Raa6d421f2e0b4076"/>
    <p:sldId xmlns:r="http://schemas.openxmlformats.org/officeDocument/2006/relationships" id="266" r:id="R39a357c83a794f88"/>
    <p:sldId xmlns:r="http://schemas.openxmlformats.org/officeDocument/2006/relationships" id="267" r:id="R197d3e6a9ae94cb5"/>
    <p:sldId xmlns:r="http://schemas.openxmlformats.org/officeDocument/2006/relationships" id="268" r:id="Rff3b056b1c584ca3"/>
    <p:sldId xmlns:r="http://schemas.openxmlformats.org/officeDocument/2006/relationships" id="269" r:id="R28db9acc992d4d33"/>
    <p:sldId xmlns:r="http://schemas.openxmlformats.org/officeDocument/2006/relationships" id="270" r:id="R376efb0e4b1a4fc1"/>
    <p:sldId xmlns:r="http://schemas.openxmlformats.org/officeDocument/2006/relationships" id="271" r:id="Rf8e15d889050443b"/>
    <p:sldId xmlns:r="http://schemas.openxmlformats.org/officeDocument/2006/relationships" id="272" r:id="R855c1254b5d14dc1"/>
    <p:sldId xmlns:r="http://schemas.openxmlformats.org/officeDocument/2006/relationships" id="273" r:id="R5e56067fd1974cf3"/>
    <p:sldId xmlns:r="http://schemas.openxmlformats.org/officeDocument/2006/relationships" id="274" r:id="Ra32c89f9d4d3423b"/>
    <p:sldId xmlns:r="http://schemas.openxmlformats.org/officeDocument/2006/relationships" id="275" r:id="Rda247d85ff264170"/>
    <p:sldId xmlns:r="http://schemas.openxmlformats.org/officeDocument/2006/relationships" id="276" r:id="R60bd6efa5df94652"/>
    <p:sldId xmlns:r="http://schemas.openxmlformats.org/officeDocument/2006/relationships" id="277" r:id="R31acde526204440f"/>
    <p:sldId xmlns:r="http://schemas.openxmlformats.org/officeDocument/2006/relationships" id="278" r:id="R8de8766cfe914166"/>
    <p:sldId xmlns:r="http://schemas.openxmlformats.org/officeDocument/2006/relationships" id="279" r:id="R77571c3c3bc945c9"/>
    <p:sldId xmlns:r="http://schemas.openxmlformats.org/officeDocument/2006/relationships" id="280" r:id="R542a7e6749674135"/>
    <p:sldId xmlns:r="http://schemas.openxmlformats.org/officeDocument/2006/relationships" id="281" r:id="R5385241bb0d34186"/>
    <p:sldId xmlns:r="http://schemas.openxmlformats.org/officeDocument/2006/relationships" id="282" r:id="Rfa6e2f93e4bf426d"/>
    <p:sldId xmlns:r="http://schemas.openxmlformats.org/officeDocument/2006/relationships" id="283" r:id="R16a89193f0d148da"/>
    <p:sldId xmlns:r="http://schemas.openxmlformats.org/officeDocument/2006/relationships" id="284" r:id="Raac1248fdcde416a"/>
    <p:sldId xmlns:r="http://schemas.openxmlformats.org/officeDocument/2006/relationships" id="285" r:id="Re37d29c7b134441a"/>
    <p:sldId xmlns:r="http://schemas.openxmlformats.org/officeDocument/2006/relationships" id="286" r:id="R30ec3a9d34c344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4b974b248b4c8c" /><Relationship Type="http://schemas.openxmlformats.org/officeDocument/2006/relationships/slideMaster" Target="/ppt/slideMasters/slideMaster1.xml" Id="Reca66ccb0af54034" /><Relationship Type="http://schemas.openxmlformats.org/officeDocument/2006/relationships/notesMaster" Target="/ppt/notesMasters/notesMaster1.xml" Id="R284f96d89e2d46e8" /><Relationship Type="http://schemas.openxmlformats.org/officeDocument/2006/relationships/presProps" Target="/ppt/presProps.xml" Id="R58ccb0d5f4704c9b" /><Relationship Type="http://schemas.openxmlformats.org/officeDocument/2006/relationships/tableStyles" Target="/ppt/tableStyles.xml" Id="R2499f8a0a61641e0" /><Relationship Type="http://schemas.openxmlformats.org/officeDocument/2006/relationships/slide" Target="/ppt/slides/slide1.xml" Id="Redbf55629bc24893" /><Relationship Type="http://schemas.openxmlformats.org/officeDocument/2006/relationships/slide" Target="/ppt/slides/slide2.xml" Id="Rcbb62e02c9824a00" /><Relationship Type="http://schemas.openxmlformats.org/officeDocument/2006/relationships/slide" Target="/ppt/slides/slide3.xml" Id="R10ee83f18ddc4b4b" /><Relationship Type="http://schemas.openxmlformats.org/officeDocument/2006/relationships/slide" Target="/ppt/slides/slide4.xml" Id="R960490ba122e4ec5" /><Relationship Type="http://schemas.openxmlformats.org/officeDocument/2006/relationships/slide" Target="/ppt/slides/slide5.xml" Id="R7af419f436c2469d" /><Relationship Type="http://schemas.openxmlformats.org/officeDocument/2006/relationships/slide" Target="/ppt/slides/slide6.xml" Id="R801f5dccfc084238" /><Relationship Type="http://schemas.openxmlformats.org/officeDocument/2006/relationships/slide" Target="/ppt/slides/slide7.xml" Id="Rbaaba7afa43c457d" /><Relationship Type="http://schemas.openxmlformats.org/officeDocument/2006/relationships/slide" Target="/ppt/slides/slide8.xml" Id="R59ec721515064ed7" /><Relationship Type="http://schemas.openxmlformats.org/officeDocument/2006/relationships/slide" Target="/ppt/slides/slide9.xml" Id="R72f20ce99f8b4fb0" /><Relationship Type="http://schemas.openxmlformats.org/officeDocument/2006/relationships/slide" Target="/ppt/slides/slide10.xml" Id="Raa6d421f2e0b4076" /><Relationship Type="http://schemas.openxmlformats.org/officeDocument/2006/relationships/slide" Target="/ppt/slides/slide11.xml" Id="R39a357c83a794f88" /><Relationship Type="http://schemas.openxmlformats.org/officeDocument/2006/relationships/slide" Target="/ppt/slides/slide12.xml" Id="R197d3e6a9ae94cb5" /><Relationship Type="http://schemas.openxmlformats.org/officeDocument/2006/relationships/slide" Target="/ppt/slides/slide13.xml" Id="Rff3b056b1c584ca3" /><Relationship Type="http://schemas.openxmlformats.org/officeDocument/2006/relationships/slide" Target="/ppt/slides/slide14.xml" Id="R28db9acc992d4d33" /><Relationship Type="http://schemas.openxmlformats.org/officeDocument/2006/relationships/slide" Target="/ppt/slides/slide15.xml" Id="R376efb0e4b1a4fc1" /><Relationship Type="http://schemas.openxmlformats.org/officeDocument/2006/relationships/slide" Target="/ppt/slides/slide16.xml" Id="Rf8e15d889050443b" /><Relationship Type="http://schemas.openxmlformats.org/officeDocument/2006/relationships/slide" Target="/ppt/slides/slide17.xml" Id="R855c1254b5d14dc1" /><Relationship Type="http://schemas.openxmlformats.org/officeDocument/2006/relationships/slide" Target="/ppt/slides/slide18.xml" Id="R5e56067fd1974cf3" /><Relationship Type="http://schemas.openxmlformats.org/officeDocument/2006/relationships/slide" Target="/ppt/slides/slide19.xml" Id="Ra32c89f9d4d3423b" /><Relationship Type="http://schemas.openxmlformats.org/officeDocument/2006/relationships/slide" Target="/ppt/slides/slide20.xml" Id="Rda247d85ff264170" /><Relationship Type="http://schemas.openxmlformats.org/officeDocument/2006/relationships/slide" Target="/ppt/slides/slide21.xml" Id="R60bd6efa5df94652" /><Relationship Type="http://schemas.openxmlformats.org/officeDocument/2006/relationships/slide" Target="/ppt/slides/slide22.xml" Id="R31acde526204440f" /><Relationship Type="http://schemas.openxmlformats.org/officeDocument/2006/relationships/slide" Target="/ppt/slides/slide23.xml" Id="R8de8766cfe914166" /><Relationship Type="http://schemas.openxmlformats.org/officeDocument/2006/relationships/slide" Target="/ppt/slides/slide24.xml" Id="R77571c3c3bc945c9" /><Relationship Type="http://schemas.openxmlformats.org/officeDocument/2006/relationships/slide" Target="/ppt/slides/slide25.xml" Id="R542a7e6749674135" /><Relationship Type="http://schemas.openxmlformats.org/officeDocument/2006/relationships/slide" Target="/ppt/slides/slide26.xml" Id="R5385241bb0d34186" /><Relationship Type="http://schemas.openxmlformats.org/officeDocument/2006/relationships/slide" Target="/ppt/slides/slide27.xml" Id="Rfa6e2f93e4bf426d" /><Relationship Type="http://schemas.openxmlformats.org/officeDocument/2006/relationships/slide" Target="/ppt/slides/slide28.xml" Id="R16a89193f0d148da" /><Relationship Type="http://schemas.openxmlformats.org/officeDocument/2006/relationships/slide" Target="/ppt/slides/slide29.xml" Id="Raac1248fdcde416a" /><Relationship Type="http://schemas.openxmlformats.org/officeDocument/2006/relationships/slide" Target="/ppt/slides/slide30.xml" Id="Re37d29c7b134441a" /><Relationship Type="http://schemas.openxmlformats.org/officeDocument/2006/relationships/slide" Target="/ppt/slides/slide31.xml" Id="R30ec3a9d34c344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ba14026a2d41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ae1047db004aea" /><Relationship Type="http://schemas.openxmlformats.org/officeDocument/2006/relationships/notesMaster" Target="/ppt/notesMasters/notesMaster1.xml" Id="Ra1fe1055d6274d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cd59e2deab49a6" /><Relationship Type="http://schemas.openxmlformats.org/officeDocument/2006/relationships/notesMaster" Target="/ppt/notesMasters/notesMaster1.xml" Id="Rc440510d4e614c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5ec660c0b948f5" /><Relationship Type="http://schemas.openxmlformats.org/officeDocument/2006/relationships/notesMaster" Target="/ppt/notesMasters/notesMaster1.xml" Id="R1b46af0a89244f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12c5f09893415f" /><Relationship Type="http://schemas.openxmlformats.org/officeDocument/2006/relationships/notesMaster" Target="/ppt/notesMasters/notesMaster1.xml" Id="R4b87ecc20d1d4f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99267406d64856" /><Relationship Type="http://schemas.openxmlformats.org/officeDocument/2006/relationships/notesMaster" Target="/ppt/notesMasters/notesMaster1.xml" Id="R750031a923a3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c896ef74ed4c18" /><Relationship Type="http://schemas.openxmlformats.org/officeDocument/2006/relationships/notesMaster" Target="/ppt/notesMasters/notesMaster1.xml" Id="Raa895061cc784a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17f4b1a1a245c3" /><Relationship Type="http://schemas.openxmlformats.org/officeDocument/2006/relationships/notesMaster" Target="/ppt/notesMasters/notesMaster1.xml" Id="R03705a93230c40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20b12f146d4f6e" /><Relationship Type="http://schemas.openxmlformats.org/officeDocument/2006/relationships/notesMaster" Target="/ppt/notesMasters/notesMaster1.xml" Id="Ra94ad00181a643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3b2aefcb4c4dc1" /><Relationship Type="http://schemas.openxmlformats.org/officeDocument/2006/relationships/notesMaster" Target="/ppt/notesMasters/notesMaster1.xml" Id="R85800513a84e47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54d91ff51744d4" /><Relationship Type="http://schemas.openxmlformats.org/officeDocument/2006/relationships/notesMaster" Target="/ppt/notesMasters/notesMaster1.xml" Id="Rc2b0637d43254d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6af6ef2f434b60" /><Relationship Type="http://schemas.openxmlformats.org/officeDocument/2006/relationships/notesMaster" Target="/ppt/notesMasters/notesMaster1.xml" Id="R3e360fec75b840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bcf6bb00847d7" /><Relationship Type="http://schemas.openxmlformats.org/officeDocument/2006/relationships/notesMaster" Target="/ppt/notesMasters/notesMaster1.xml" Id="Rb97fb4a3798b40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7ce46191434b42" /><Relationship Type="http://schemas.openxmlformats.org/officeDocument/2006/relationships/notesMaster" Target="/ppt/notesMasters/notesMaster1.xml" Id="R51d94dd113bb41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1142786d1d4fea" /><Relationship Type="http://schemas.openxmlformats.org/officeDocument/2006/relationships/notesMaster" Target="/ppt/notesMasters/notesMaster1.xml" Id="R37eb59011a1f41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52745a9b6d4ae6" /><Relationship Type="http://schemas.openxmlformats.org/officeDocument/2006/relationships/notesMaster" Target="/ppt/notesMasters/notesMaster1.xml" Id="R8ea5ac0b956643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238367d4004bd5" /><Relationship Type="http://schemas.openxmlformats.org/officeDocument/2006/relationships/notesMaster" Target="/ppt/notesMasters/notesMaster1.xml" Id="R0cacf57a93334b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95751b06c34a91" /><Relationship Type="http://schemas.openxmlformats.org/officeDocument/2006/relationships/notesMaster" Target="/ppt/notesMasters/notesMaster1.xml" Id="Rbc7402c0338144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8541ddf8724336" /><Relationship Type="http://schemas.openxmlformats.org/officeDocument/2006/relationships/notesMaster" Target="/ppt/notesMasters/notesMaster1.xml" Id="R420670af42be45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2f6cc25d724ddb" /><Relationship Type="http://schemas.openxmlformats.org/officeDocument/2006/relationships/notesMaster" Target="/ppt/notesMasters/notesMaster1.xml" Id="Rc7a3e4231f9b46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c77be1dfed429f" /><Relationship Type="http://schemas.openxmlformats.org/officeDocument/2006/relationships/notesMaster" Target="/ppt/notesMasters/notesMaster1.xml" Id="Rd578894c650941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46d627100b4478" /><Relationship Type="http://schemas.openxmlformats.org/officeDocument/2006/relationships/notesMaster" Target="/ppt/notesMasters/notesMaster1.xml" Id="Rfea13f791f0047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0759e3ff6d4d2e" /><Relationship Type="http://schemas.openxmlformats.org/officeDocument/2006/relationships/notesMaster" Target="/ppt/notesMasters/notesMaster1.xml" Id="Rd068f5196c8741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96f801c2c44951" /><Relationship Type="http://schemas.openxmlformats.org/officeDocument/2006/relationships/notesMaster" Target="/ppt/notesMasters/notesMaster1.xml" Id="R79b16f467f7441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f7df9bf21e4875" /><Relationship Type="http://schemas.openxmlformats.org/officeDocument/2006/relationships/notesMaster" Target="/ppt/notesMasters/notesMaster1.xml" Id="Rd76e27d6e0a24f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a075a7c04b47d3" /><Relationship Type="http://schemas.openxmlformats.org/officeDocument/2006/relationships/notesMaster" Target="/ppt/notesMasters/notesMaster1.xml" Id="Rb24e886d4c90457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6a98bac41c4002" /><Relationship Type="http://schemas.openxmlformats.org/officeDocument/2006/relationships/notesMaster" Target="/ppt/notesMasters/notesMaster1.xml" Id="R7463f1aec92d4a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1d5c9952a1d48f0" /><Relationship Type="http://schemas.openxmlformats.org/officeDocument/2006/relationships/notesMaster" Target="/ppt/notesMasters/notesMaster1.xml" Id="Rad1478ce51d143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6d7036904164f07" /><Relationship Type="http://schemas.openxmlformats.org/officeDocument/2006/relationships/notesMaster" Target="/ppt/notesMasters/notesMaster1.xml" Id="R736a9dd25e624c7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ab355432cd542fc" /><Relationship Type="http://schemas.openxmlformats.org/officeDocument/2006/relationships/notesMaster" Target="/ppt/notesMasters/notesMaster1.xml" Id="Rae58cc2b1838491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b77049319114900" /><Relationship Type="http://schemas.openxmlformats.org/officeDocument/2006/relationships/notesMaster" Target="/ppt/notesMasters/notesMaster1.xml" Id="R242a6618e9cb48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5ecf94f4f7d446f" /><Relationship Type="http://schemas.openxmlformats.org/officeDocument/2006/relationships/notesMaster" Target="/ppt/notesMasters/notesMaster1.xml" Id="Ra125a0417e0c4c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56 seconds; elapsed 0–56 seconds</a:t>
            </a:r>
          </a:p>
          <a:p xmlns:a="http://schemas.openxmlformats.org/drawingml/2006/main">
            <a:r>
              <a:t/>
            </a:r>
          </a:p>
          <a:p xmlns:a="http://schemas.openxmlformats.org/drawingml/2006/main">
            <a:r>
              <a:t>Ben, I want to bring you up to date on the whole project and separate what we have established from what still needs work. The original goal was to reproduce MINERvA’s inclusive muon-neutrino cross section using OmniFold, then use the same event-based method to add hadronic information. That expanded into two research directions: scalar observables, meaning one numerical value per event for each chosen quantity, and a learned representation of the particles and detector deposits in an event. I will show the successful reproduction first, then explain why uncertainty validation has become the central issue. I have kept the details of individual campaigns in backup slides so we can follow whichever part you want to discuss.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/Users/josephbailey/local-research/MINERvA-OmniFold/docs/analysis-note/main_note.tex</a:t>
            </a:r>
          </a:p>
          <a:p xmlns:a="http://schemas.openxmlformats.org/drawingml/2006/main">
            <a:r>
              <a:t>Repository /Users/josephbailey/local-research/MINERvA-OmniFold/docs/publication/submission/PACKAGE-MANIFEST-20261006.md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57 seconds; elapsed 56–113 seconds</a:t>
            </a:r>
          </a:p>
          <a:p xmlns:a="http://schemas.openxmlformats.org/drawingml/2006/main">
            <a:r>
              <a:t/>
            </a:r>
          </a:p>
          <a:p xmlns:a="http://schemas.openxmlformats.org/drawingml/2006/main">
            <a:r>
              <a:t>There are three outcomes to keep separate. The two-dimensional reproduction gives a stable central cross section close to the published result. Its uncertainty construction has been repaired, although the newest statistical band still needs a coverage re-test. The scalar extensions add up to five recorded observables and pass specific consistency and closure tests. A separate campaign gives conditional generator-test results, but did not qualify a five-dimensional cross-section measurement with total uncertainties. Finally, the point-cloud studies substantially improve recovery of some simulated distortions. Their uncertainty procedure fails calibration, so they remain method development. A central estimate is the fitted spectrum. An uncertainty procedure is the rule that assigns its error bars. Success of one does not automatically establish the other.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/Users/josephbailey/local-research/MINERvA-OmniFold/2d-unfolding/2D_OMNIFOLD_STUDY_STATUS.md</a:t>
            </a:r>
          </a:p>
          <a:p xmlns:a="http://schemas.openxmlformats.org/drawingml/2006/main">
            <a:r>
              <a:t>Repository /Users/josephbailey/local-research/MINERvA-OmniFold/3d-unfolding/3D_OMNIFOLD_STATUS.md</a:t>
            </a:r>
          </a:p>
          <a:p xmlns:a="http://schemas.openxmlformats.org/drawingml/2006/main">
            <a:r>
              <a:t>Repository /Users/josephbailey/local-research/MINERvA-OmniFold/docs/orchestration/DELIVERY-20261006-s5p-campaign-terminal.md</a:t>
            </a:r>
          </a:p>
          <a:p xmlns:a="http://schemas.openxmlformats.org/drawingml/2006/main">
            <a:r>
              <a:t>Repository /Users/josephbailey/local-research/MINERvA-OmniFold/nd-unfolding/pet/final_design/DECISION_RECORD-pet-final-design.md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59 seconds; elapsed 113–172 seconds</a:t>
            </a:r>
          </a:p>
          <a:p xmlns:a="http://schemas.openxmlformats.org/drawingml/2006/main">
            <a:r>
              <a:t/>
            </a:r>
          </a:p>
          <a:p xmlns:a="http://schemas.openxmlformats.org/drawingml/2006/main">
            <a:r>
              <a:t>We use the same medium-energy neutrino-mode exposure as the published inclusive measurement: about 1.057 times ten to the twenty-one protons on target, leaving about 4.12 million selected events. Protons on target measures the accelerator exposure. Charged-current means the neutrino produces a charged lepton, here a muon. Inclusive means we do not require a particular hadronic final state. The fiducial volume is the selected interior region of the tracker. The reference cross section also restricts the muon angle and momentum as shown. MINERvA measures the interaction and recoil activity, while the downstream magnetized MINOS detector provides muon momentum and charge. Here p transverse and p parallel are momentum components relative to the beam. Simulation supplies paired records of the generated interaction and its detector reconstruction.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/Users/josephbailey/local-research/MINERvA-OmniFold/docs/analysis-note/sec_experiment.tex</a:t>
            </a:r>
          </a:p>
          <a:p xmlns:a="http://schemas.openxmlformats.org/drawingml/2006/main">
            <a:r>
              <a:t>Repository /Users/josephbailey/local-research/MINERvA-OmniFold/2d-unfolding/2D_OMNIFOLD_REFERENCE.md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82 seconds; elapsed 172–254 seconds</a:t>
            </a:r>
          </a:p>
          <a:p xmlns:a="http://schemas.openxmlformats.org/drawingml/2006/main">
            <a:r>
              <a:t/>
            </a:r>
          </a:p>
          <a:p xmlns:a="http://schemas.openxmlformats.org/drawingml/2006/main">
            <a:r>
              <a:t>Unfolding estimates the particle-level distribution that could have produced the detector-level observations. Truth means the simulated interaction before detector effects, not something directly known for the data. OmniFold does this through event weights. In the detector step, a classifier learns to distinguish data from reconstructed simulation. A classifier is a function trained to separate labeled examples. With the appropriate class normalization, its probability gives a density ratio through p divided by one minus p. That ratio says where simulation needs more or less weight. We transfer the weights through the paired simulated events to truth. A regressor, meaning a learned prediction of a numerical quantity, supplies weights for truth events without a selected reconstructed partner. The second classifier smooths the reweighting in truth space. Repeating these steps defines an iteration. The scalar analyses use boosted decision trees: an ensemble of small decision rules fitted successively. The final product is a weighted truth ensemble, so we can choose reporting histograms afterward. The number of iterations and the learner’s capacity limit how much structure the fit can recover.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/Users/josephbailey/local-research/MINERvA-OmniFold/docs/analysis-note/sec_method.tex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elapsed 254–319 seconds</a:t>
            </a:r>
          </a:p>
          <a:p xmlns:a="http://schemas.openxmlformats.org/drawingml/2006/main">
            <a:r>
              <a:t/>
            </a:r>
          </a:p>
          <a:p xmlns:a="http://schemas.openxmlformats.org/drawingml/2006/main">
            <a:r>
              <a:t>These terms recur throughout the talk. A closure test creates pseudo-data, or simulated data, whose underlying truth we know. We change that truth, unfold, and ask whether we recover it. A dimensional anchor integrates away an added observable and compares with the earlier lower-dimensional result. That checks consistency, especially normalization, but does not prove every shape agrees. Coverage asks a different question: if we repeated the experiment many times, how often would a stated interval contain the fixed truth? A nominal 95 percent interval should do so roughly 95 percent of the time under the tested model. A method can recover one injected bump and still have poorly calibrated intervals or miss a different distortion. The one-dimensional binned study served as an equivalence and debugging cross-check. It is complete and is not a separate publication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/Users/josephbailey/local-research/MINERvA-OmniFold/docs/analysis-note/sec_validation.tex</a:t>
            </a:r>
          </a:p>
          <a:p xmlns:a="http://schemas.openxmlformats.org/drawingml/2006/main">
            <a:r>
              <a:t>Repository /Users/josephbailey/local-research/MINERvA-OmniFold/docs/analysis-note/sec_3d.tex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61 seconds; elapsed 319–380 seconds</a:t>
            </a:r>
          </a:p>
          <a:p xmlns:a="http://schemas.openxmlformats.org/drawingml/2006/main">
            <a:r>
              <a:t/>
            </a:r>
          </a:p>
          <a:p xmlns:a="http://schemas.openxmlformats.org/drawingml/2006/main">
            <a:r>
              <a:t>This figure compares the two-dimensional extraction with the published result. The bin ratios show shape agreement, while the integrated comparison checks normalization. The integrated result is 3.073 times ten to the minus thirty-eight square centimeters per nucleon, 1.11 percent above the published total. Across the 205 reported bins, about 94 percent are within ten percent of the published values. This is a meaningful reproduction of the extraction and normalization using a different unfolding method. It uses the same data and many of the same systematic ingredients, so it is not an independent measurement of the physics. There is also a backend distinction: the published central estimate uses scikit-learn’s exact-split trees, while the uncertainty ensembles use LightGBM, another boosted-tree implementation. The central estimator and covariance are not strictly matched.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/Users/josephbailey/local-research/MINERvA-OmniFold/2d-unfolding/2D_OMNIFOLD_STUDY_STATUS.md</a:t>
            </a:r>
          </a:p>
          <a:p xmlns:a="http://schemas.openxmlformats.org/drawingml/2006/main">
            <a:r>
              <a:t>Repository /Users/josephbailey/local-research/MINERvA-OmniFold/docs/analysis-note/figures/MEFHC_5iter_xsec_proj_pt.pdf</a:t>
            </a:r>
          </a:p>
          <a:p xmlns:a="http://schemas.openxmlformats.org/drawingml/2006/main">
            <a:r>
              <a:t>Repository /Users/josephbailey/local-research/MINERvA-OmniFold/docs/analysis-note/sec_method.tex</a:t>
            </a:r>
          </a:p>
          <a:p xmlns:a="http://schemas.openxmlformats.org/drawingml/2006/main">
            <a:r>
              <a:t>Repository /Users/josephbailey/local-research/MINERvA-OmniFold/docs/analysis-note/figures/paper_fig1_validation.pdf</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64 seconds; elapsed 380–444 seconds</a:t>
            </a:r>
          </a:p>
          <a:p xmlns:a="http://schemas.openxmlformats.org/drawingml/2006/main">
            <a:r>
              <a:t/>
            </a:r>
          </a:p>
          <a:p xmlns:a="http://schemas.openxmlformats.org/drawingml/2006/main">
            <a:r>
              <a:t>Several controls support that result. Injected truth shapes and selected alternative systematic-universe tests pass their declared thresholds. A universe here means a simulated variation of an uncertain model or detector parameter. We also repaired and checked the signal bookkeeping: truth records define the denominator, and an event that fails reconstruction remains present as a missed event. That prevents an apparently successful unfold from silently losing part of the signal. Five iterations are the frozen production choice, supported by the existing iteration checks. The validation has a visible boundary. In a hidden-variable test, a sufficiently large distortion in a detector-resolution variable exceeds the closure threshold. That matters because agreement on the training observables cannot guarantee correctness for every unobserved feature or detector response. I would describe these as targeted validation successes, with their tested scope attached.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/Users/josephbailey/local-research/MINERvA-OmniFold/docs/analysis-note/sec_validation.tex</a:t>
            </a:r>
          </a:p>
          <a:p xmlns:a="http://schemas.openxmlformats.org/drawingml/2006/main">
            <a:r>
              <a:t>Repository /Users/josephbailey/local-research/MINERvA-OmniFold/docs/analysis-note/sec_method.tex</a:t>
            </a:r>
          </a:p>
          <a:p xmlns:a="http://schemas.openxmlformats.org/drawingml/2006/main">
            <a:r>
              <a:t>Repository /Users/josephbailey/local-research/MINERvA-OmniFold/2d-unfolding/2D_OMNIFOLD_REFERENCE.md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77 seconds; elapsed 444–521 seconds</a:t>
            </a:r>
          </a:p>
          <a:p xmlns:a="http://schemas.openxmlformats.org/drawingml/2006/main">
            <a:r>
              <a:t/>
            </a:r>
          </a:p>
          <a:p xmlns:a="http://schemas.openxmlformats.org/drawingml/2006/main">
            <a:r>
              <a:t>A covariance matrix describes both individual bin variances and how bins move together. The two-dimensional construction combines 187 systematic universes with statistical resampling and training variation. Flux means the number of incident neutrinos per area. Applying each universe’s flux normalization correctly was essential. The current construction follows the MINERvA Analysis Toolkit prescription and gives a median relative bin uncertainty of 6.87 percent. That number is not the error on the integral. A recent fixed-truth test found that the old statistical band contained truth within two standard deviations only 91.21 percent of the time, below its predeclared acceptable window. The repair removed a spurious fluctuating completeness normalization from the replicas. I adopted the rebuilt statistical band, and the combined products were rebuilt. The printed total median barely changed because other sources dominate. The new band has not been coverage re-tested. Adding our covariance to the published one double-counts shared systematics, so I do not use the resulting small chi-square as the main validation claim.</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/Users/josephbailey/local-research/MINERvA-OmniFold/VALIDATION_LEDGER.md: VL169–VL172</a:t>
            </a:r>
          </a:p>
          <a:p xmlns:a="http://schemas.openxmlformats.org/drawingml/2006/main">
            <a:r>
              <a:t>Repository /Users/josephbailey/local-research/MINERvA-OmniFold/docs/analysis-note/sec_systematics.tex</a:t>
            </a:r>
          </a:p>
          <a:p xmlns:a="http://schemas.openxmlformats.org/drawingml/2006/main">
            <a:r>
              <a:t>Repository /Users/josephbailey/local-research/MINERvA-OmniFold/docs/analysis-note/sec_validation.tex</a:t>
            </a:r>
          </a:p>
          <a:p xmlns:a="http://schemas.openxmlformats.org/drawingml/2006/main">
            <a:r>
              <a:t>Repository /Users/josephbailey/local-research/MINERvA-OmniFold/KNOWN_ISSUES.md: 84–85</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 elapsed 521–591 seconds</a:t>
            </a:r>
          </a:p>
          <a:p xmlns:a="http://schemas.openxmlformats.org/drawingml/2006/main">
            <a:r>
              <a:t/>
            </a:r>
          </a:p>
          <a:p xmlns:a="http://schemas.openxmlformats.org/drawingml/2006/main">
            <a:r>
              <a:t>The progression follows the physics. Available energy, E avail, is a species-dependent measure of visible hadronic energy. It is not the total energy transfer, because neutrons and other excluded particles do not contribute to its truth definition. The fourth observable, q three, is the magnitude of the three-momentum transferred to the hadronic system. At reconstruction level it uses muon kinematics and a calorimetric estimate of energy transfer. The fifth, W, is an experimenter’s inferred hadronic invariant mass. It helps separate the quasielastic region, where scattering resembles a nucleon knockout, from resonance production and the high-mass deep-inelastic region. These variables are correlated and partly derived, so five dimensions means five recorded coordinates, not five independent degrees of freedom. Adding an input avoids building a huge explicit response matrix, but it still increases demands on simulation support, training and validation. The exact energy convention matters, and I give it in backup.</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/Users/josephbailey/local-research/MINERvA-OmniFold/docs/analysis-note/sec_3d.tex</a:t>
            </a:r>
          </a:p>
          <a:p xmlns:a="http://schemas.openxmlformats.org/drawingml/2006/main">
            <a:r>
              <a:t>Repository /Users/josephbailey/local-research/MINERvA-OmniFold/docs/analysis-note/sec_eavailw.tex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74 seconds; elapsed 591–665 seconds</a:t>
            </a:r>
          </a:p>
          <a:p xmlns:a="http://schemas.openxmlformats.org/drawingml/2006/main">
            <a:r>
              <a:t/>
            </a:r>
          </a:p>
          <a:p xmlns:a="http://schemas.openxmlformats.org/drawingml/2006/main">
            <a:r>
              <a:t>The three-dimensional result preserves the overall normalization of the two-dimensional anchor and recovers the tested injected available-energy shape. Here the spectrum shows how generator predictions separate once we examine the hadronic energy. Monte Carlo means simulation using random sampling. A generator is a Monte Carlo model of the neutrino interaction and final-state particles. GENIE, NuWro and GiBUU implement different physics assumptions, while MINERvA Tune v1 applies experiment-specific weights to the reference GENIE simulation. The low-energy deficit is related to the familiar two-particle–two-hole contribution, abbreviated two p two h: an interaction involving a pair of nucleons that leaves two holes in the nuclear state. Adding the Valencia model fills 52 percent of the gap below 0.4 GeV in this comparison. That is descriptive evidence about the central spectra, not proof of a unique mechanism or a significance. The older three-dimensional covariance-derived significances are quarantined. The energy definition also differs from some published low-recoil measurements, which limits direct comparisons.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/Users/josephbailey/local-research/MINERvA-OmniFold/3d-unfolding/3D_OMNIFOLD_STATUS.md</a:t>
            </a:r>
          </a:p>
          <a:p xmlns:a="http://schemas.openxmlformats.org/drawingml/2006/main">
            <a:r>
              <a:t>Repository /Users/josephbailey/local-research/MINERvA-OmniFold/VALIDATION_LEDGER.md: VL159–VL160</a:t>
            </a:r>
          </a:p>
          <a:p xmlns:a="http://schemas.openxmlformats.org/drawingml/2006/main">
            <a:r>
              <a:t>Repository /Users/josephbailey/local-research/MINERvA-OmniFold/docs/analysis-note/figures/generators_vs_unfolded_band_central.pdf</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63 seconds; elapsed 665–728 seconds</a:t>
            </a:r>
          </a:p>
          <a:p xmlns:a="http://schemas.openxmlformats.org/drawingml/2006/main">
            <a:r>
              <a:t/>
            </a:r>
          </a:p>
          <a:p xmlns:a="http://schemas.openxmlformats.org/drawingml/2006/main">
            <a:r>
              <a:t>Projecting the five-coordinate result onto available energy and W shows where the nominal unfolded spectrum differs from the tuned prior. A projection means integrating or summing over the other coordinates. The prior is the simulated distribution we start from. Much of the positive difference lies at high available energy and high inferred hadronic mass. That is an interesting place to investigate deep-inelastic modeling, but I would not claim that the map identifies the physical cause. This is also where later tests found large regularization effects. Regularization is the restriction imposed by finite iteration count and learner capacity: it stabilizes the inverse problem while potentially retaining dependence on the starting model. The dimensional anchors and earlier closures still stand, but they do not establish an uncertainty or a local significance for this feature.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/Users/josephbailey/local-research/MINERvA-OmniFold/docs/analysis-note/sec_eavailw.tex</a:t>
            </a:r>
          </a:p>
          <a:p xmlns:a="http://schemas.openxmlformats.org/drawingml/2006/main">
            <a:r>
              <a:t>Repository /Users/josephbailey/local-research/MINERvA-OmniFold/docs/analysis-note/figures/paper_fig2_joint.pdf</a:t>
            </a:r>
          </a:p>
          <a:p xmlns:a="http://schemas.openxmlformats.org/drawingml/2006/main">
            <a:r>
              <a:t>Repository /Users/josephbailey/local-research/MINERvA-OmniFold/VALIDATION_LEDGER.md: VL149–VL152</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elapsed 728–793 seconds</a:t>
            </a:r>
          </a:p>
          <a:p xmlns:a="http://schemas.openxmlformats.org/drawingml/2006/main">
            <a:r>
              <a:t/>
            </a:r>
          </a:p>
          <a:p xmlns:a="http://schemas.openxmlformats.org/drawingml/2006/main">
            <a:r>
              <a:t>The extended-fiducial study asks what happens if we remove the truth-level muon kinematic restrictions while keeping the reconstructed selection. It is still an interaction in the tracker volume, not unrestricted neutrino phase space. Efficiency is the fraction of true events that become selected reconstructed events. The map shows a substantial region where that fraction is nearly zero. About 27.7 percent of the weighted true rate lies below two percent efficiency. In those regions the result relies heavily on extrapolating the missed-event weights from simulation. The published subdomain remains well anchored, and finite closure and three-prior comparisons provide useful diagnostics. But three priors do not bound all possible model dependence. One historical NuWro-shaped prior also predates the flux repair. There is no corrected covariance for this enlarged domain, so its result is preliminary central-value and validation information.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/Users/josephbailey/local-research/MINERvA-OmniFold/docs/analysis-note/sec_fps.tex</a:t>
            </a:r>
          </a:p>
          <a:p xmlns:a="http://schemas.openxmlformats.org/drawingml/2006/main">
            <a:r>
              <a:t>Repository /Users/josephbailey/local-research/MINERvA-OmniFold/docs/analysis-note/figures/fps_acceptance_MEFHC.pdf</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89 seconds; elapsed 793–882 seconds</a:t>
            </a:r>
          </a:p>
          <a:p xmlns:a="http://schemas.openxmlformats.org/drawingml/2006/main">
            <a:r>
              <a:t/>
            </a:r>
          </a:p>
          <a:p xmlns:a="http://schemas.openxmlformats.org/drawingml/2006/main">
            <a:r>
              <a:t>I adopted one specific five-dimensional covariance product under an explicit exception. That decision carries four measurements, which are part of the result. A seed fixes a pseudo-random sequence used by training. First, changing the estimator’s random seed moves a projected uncertainty width by as much as 6.145 percent, above the five percent limit. This statistic measures changes in square roots of projected variances, including correlations. Second, the effect remains about six percent across the tested 40, 80 and 160 throws. The smaller samples are nested subsets of one ensemble at one seed pair. Larger ensembles and the distribution over seed pairs remain unmeasured. In contrast, the resampling control falls from 20.91 to 7.57 percent between 40 and 80. Third, five bands keep a fixed seed. They account for 6.75 percent of the covariance trace, the sum of bin variances, or 26 percent of its square-root trace scale. Their unmeasured contribution could move the result either way. Fourth, the seed also moves central values: at most 6.02 percent of the projected uncertainty, but as much as 49.8 percent for individual five-dimensional bins. Adoption did not convert the product’s failed criteria into passes.</a:t>
            </a:r>
          </a:p>
          <a:p xmlns:a="http://schemas.openxmlformats.org/drawingml/2006/main">
            <a:r>
              <a:t/>
            </a:r>
          </a:p>
          <a:p xmlns:a="http://schemas.openxmlformats.org/drawingml/2006/main">
            <a:r>
              <a:t>Expanded measurements for slide 13 (reference, not additional timed speech):</a:t>
            </a:r>
          </a:p>
          <a:p xmlns:a="http://schemas.openxmlformats.org/drawingml/2006/main">
            <a:r>
              <a:t>M1: The maximum fractional change in a declared projected uncertainty width is s_proj = 6.145%, above the 5% bound. The aggregate and median diagnostics are 0.471% and 0.485%. The comparison products are different from the adopted digest.</a:t>
            </a:r>
          </a:p>
          <a:p xmlns:a="http://schemas.openxmlformats.org/drawingml/2006/main">
            <a:r>
              <a:t>M2: s_proj is 6.02%, 6.02% and 6.145% on nested N = 40, 80 and 160 subsets at one seed pair. The same-seed resampling control falls from 20.91% to 7.57% between 40 and 80. The quoted 6.04% ± 0.39% summarizes subset scatter, not the width over seed pairs. Larger N and seed-pair width remain unmeasured.</a:t>
            </a:r>
          </a:p>
          <a:p xmlns:a="http://schemas.openxmlformats.org/drawingml/2006/main">
            <a:r>
              <a:t>M3: BeamAngleX, BeamAngleY, MuonResolution, Muon_Energy_MINERvA and Muon_Energy_MINOS remain at literal seed 42. These five of 45 bands carry 6.75% of covariance trace, or 26.0% of the square-root trace scale, and contribute zero seed movement by construction. Releasing their seeds could change the total statistic in either direction.</a:t>
            </a:r>
          </a:p>
          <a:p xmlns:a="http://schemas.openxmlformats.org/drawingml/2006/main">
            <a:r>
              <a:t>M4: On 43 projection functionals, central relative shifts have median 0.104% and maximum 0.761%, compared with median relative uncertainty 10.1%. In units of their own uncertainties the shifts have median 1.06%, maximum 6.02%, and total-rate movement 1.13%. Per individual 5D bin, median is 3.77%, 90th percentile 13.6%, maximum 49.8% of uncertainty. The same-seed control is 9.4e-13.</a:t>
            </a:r>
          </a:p>
          <a:p xmlns:a="http://schemas.openxmlformats.org/drawingml/2006/main">
            <a:r>
              <a:t/>
            </a:r>
          </a:p>
          <a:p xmlns:a="http://schemas.openxmlformats.org/drawingml/2006/main">
            <a:r>
              <a:t>SOURCES</a:t>
            </a:r>
          </a:p>
          <a:p xmlns:a="http://schemas.openxmlformats.org/drawingml/2006/main">
            <a:r>
              <a:t>Repository /Users/josephbailey/local-research/MINERvA-OmniFold/docs/orchestration/DECISION-20260920-joseph-adopts-z-cv-under-the-6.4-exception.md: §4</a:t>
            </a:r>
          </a:p>
          <a:p xmlns:a="http://schemas.openxmlformats.org/drawingml/2006/main">
            <a:r>
              <a:t>Repository /Users/josephbailey/local-research/MINERvA-OmniFold/docs/orchestration/CORRECTION-20260921-seed-effect-larger-ensemble-corollary-withdrawn.md</a:t>
            </a:r>
          </a:p>
          <a:p xmlns:a="http://schemas.openxmlformats.org/drawingml/2006/main">
            <a:r>
              <a:t>Repository /Users/josephbailey/local-research/MINERvA-OmniFold/docs/orchestration/CORRECTION-20260920-lower-bound-inference-withdrawn.md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82 seconds; elapsed 882–964 seconds</a:t>
            </a:r>
          </a:p>
          <a:p xmlns:a="http://schemas.openxmlformats.org/drawingml/2006/main">
            <a:r>
              <a:t/>
            </a:r>
          </a:p>
          <a:p xmlns:a="http://schemas.openxmlformats.org/drawingml/2006/main">
            <a:r>
              <a:t>The later scalar campaigns are important because they test things the early injected-feature closures did not. The s5c study found a bias from the binned purity background treatment in nominal pseudo-experiments, meaning a systematic displacement of the estimate from truth, reaching about four percent in the highest-W column. Purity is the estimated signal fraction in a detector bin, used to downweight data. The s5n study explored a refined alternative based on signed background subtraction. It improved that problem but exposed a much larger issue under generator-sized truth changes: residuals reached about 74 percent in some tested cells, and signal-only controls reproduced the departure failure. The s5e diagnosis identified insufficient refinement-classifier capacity as a cause of the remaining nominal background bias. Increasing that capacity produced candidate R and repaired that specific bias on fresh tests. It did not fix the large truth-departure residuals, and R failed its real-data numerical-stability criterion. These are measured simulation failures and method sensitivities, not measurements of the real data’s bias. None of these campaigns adopted a replacement estimator or total covariance.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/Users/josephbailey/local-research/MINERvA-OmniFold/VALIDATION_LEDGER.md: VL149–VL152</a:t>
            </a:r>
          </a:p>
          <a:p xmlns:a="http://schemas.openxmlformats.org/drawingml/2006/main">
            <a:r>
              <a:t>Repository /Users/josephbailey/local-research/MINERvA-OmniFold/docs/orchestration/OUTCOME-20260926-s5e-oi192-diagnosis-and-candidate.md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81 seconds; elapsed 964–1045 seconds</a:t>
            </a:r>
          </a:p>
          <a:p xmlns:a="http://schemas.openxmlformats.org/drawingml/2006/main">
            <a:r>
              <a:t/>
            </a:r>
          </a:p>
          <a:p xmlns:a="http://schemas.openxmlformats.org/drawingml/2006/main">
            <a:r>
              <a:t>The next campaign, s5p, tested whether any permitted reporting choice could provide a useful five-dimensional measurement with defensible total uncertainties. That measurement branch was not admitted. Instead, a separately authorized inference branch asked a narrower question. Suppose a particular generator’s fine-grid cross section were true, with specified assumptions below that grid and for the detector. How often would the complete estimation procedure produce a discrepancy as large as the observed one? That assumption is the null hypothesis. Here the hybrid null combines the generator’s fine-cell rates and finite-sample fluctuations with MINERvA Tune’s shapes below the grid. We simulate pseudo-experiments under it, including the declared nuisance variations. A nuisance parameter describes an uncertain ingredient such as an energy response or interaction-model parameter. We then calibrate the comparison statistic empirically. The p-value is the probability, under that specific null, of a statistic at least as extreme as observed. It is not the probability that the generator is true. This route can account for an estimator’s modeled bias without turning its output into a qualified cross-section measurement.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/Users/josephbailey/local-research/MINERvA-OmniFold/docs/orchestration/DELIVERY-20261006-s5p-campaign-terminal.md</a:t>
            </a:r>
          </a:p>
          <a:p xmlns:a="http://schemas.openxmlformats.org/drawingml/2006/main">
            <a:r>
              <a:t>Repository /Users/josephbailey/local-research/MINERvA-OmniFold/docs/orchestration/RECORD-20260927-s5p-stage2-exit.md</a:t>
            </a:r>
          </a:p>
          <a:p xmlns:a="http://schemas.openxmlformats.org/drawingml/2006/main">
            <a:r>
              <a:t>Repository /Users/josephbailey/local-research/MINERvA-OmniFold/docs/orchestration/RECORD-20261005-s5p-joint-5d-inference-result.md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81 seconds; elapsed 1045–1126 seconds</a:t>
            </a:r>
          </a:p>
          <a:p xmlns:a="http://schemas.openxmlformats.org/drawingml/2006/main">
            <a:r>
              <a:t/>
            </a:r>
          </a:p>
          <a:p xmlns:a="http://schemas.openxmlformats.org/drawingml/2006/main">
            <a:r>
              <a:t>Under these six conditions, all ten tests reject their specified nulls: five predictions, each tested for total rate and shape. Shape means comparing distributions after removing their overall normalization. The predictions are MINERvA Tune v1, GENIE 2.12.10 with and without the Valencia two-nucleon component, NuWro 21.09 and GiBUU 2019. The familywise five percent threshold controls the chance of at least one false rejection across the declared family, under the calibration assumptions. Holm’s procedure adjusts the thresholds for the multiple comparisons. The conditions stay attached to that claim. The null assumes sub-grid shapes that have not converged under refinement. Detector coverage is incomplete, especially for recoil energy. Interaction-model variations use the declared bands and clipping. The toys use less simulation than the data fit, with a measured correction variant. GiBUU has a restricted energy domain. All generators have finite simulation uncertainty. Independent recomputation agrees with the calculation, not the adequacy of every assumption. Recovered time-limited draws leave the decisions unchanged, with their margins disclosed. Monte Carlo p-values have finite resolution and are never zero.</a:t>
            </a:r>
          </a:p>
          <a:p xmlns:a="http://schemas.openxmlformats.org/drawingml/2006/main">
            <a:r>
              <a:t/>
            </a:r>
          </a:p>
          <a:p xmlns:a="http://schemas.openxmlformats.org/drawingml/2006/main">
            <a:r>
              <a:t>Expanded conditions for slide 16 (reference, not additional timed speech):</a:t>
            </a:r>
          </a:p>
          <a:p xmlns:a="http://schemas.openxmlformats.org/drawingml/2006/main">
            <a:r>
              <a:t>1. The fine-grid null uses generator G's cross section, with MnvTune shapes and G's finite-MC fine-cell fluctuations below it. Refinement has not converged. The 0.50–0.86 comparison is the L2 norm of per-cell relative changes. The frozen kappa = 2 variants and the report-only kappa = 3 check follow the last refinement shift. The true sub-fine residual remains unmeasured and potentially material.</a:t>
            </a:r>
          </a:p>
          <a:p xmlns:a="http://schemas.openxmlformats.org/drawingml/2006/main">
            <a:r>
              <a:t>2. Detector calibration assumes the simulated per-event response beyond the drawn MinosEfficiency and GEANT neutron, pion and proton bands at plus or minus one standard deviation, together with the linear surrogate for five lateral bands. There is no recoil-energy-scale band. Hadronic-response completeness is not established.</a:t>
            </a:r>
          </a:p>
          <a:p xmlns:a="http://schemas.openxmlformats.org/drawingml/2006/main">
            <a:r>
              <a:t>3. Every pseudo-experiment draws all 34 vertical interaction-model bands. Negative LowQ2_1 and HighQ2_1 weights are clipped per universe under the recorded exception, at no more than 0.35% of a band's shift in the covariance-standardized norm.</a:t>
            </a:r>
          </a:p>
          <a:p xmlns:a="http://schemas.openxmlformats.org/drawingml/2006/main">
            <a:r>
              <a:t>4. Toys unfold with half the MC, whereas the data use the full MC. The shift measured in 16 pairs has median absolute size 0.02–0.075% per cell. Along the null's bias direction it is not always consistent with zero, but is at most about 0.05 null standard deviations. A bias-aligned upper-bound variant enters the rule.</a:t>
            </a:r>
          </a:p>
          <a:p xmlns:a="http://schemas.openxmlformats.org/drawingml/2006/main">
            <a:r>
              <a:t>5. GiBUU lacks neutrino energy above 20 GeV. Its truth outside p_parallel &lt; 6 GeV/c still migrates into the tested domain under that energy truncation. All generator samples lack neutrino energy above 100 GeV; the record treats that tail as negligible.</a:t>
            </a:r>
          </a:p>
          <a:p xmlns:a="http://schemas.openxmlformats.org/drawingml/2006/main">
            <a:r>
              <a:t>6. Each prediction's finite simulation enters both as a diagonal variance term in the comparison metric and as a sampled residual. Independent recomputation establishes arithmetic agreement under these choices, not calibration adequacy.</a:t>
            </a:r>
          </a:p>
          <a:p xmlns:a="http://schemas.openxmlformats.org/drawingml/2006/main">
            <a:r>
              <a:t/>
            </a:r>
          </a:p>
          <a:p xmlns:a="http://schemas.openxmlformats.org/drawingml/2006/main">
            <a:r>
              <a:t>SOURCES</a:t>
            </a:r>
          </a:p>
          <a:p xmlns:a="http://schemas.openxmlformats.org/drawingml/2006/main">
            <a:r>
              <a:t>Repository /Users/josephbailey/local-research/MINERvA-OmniFold/docs/orchestration/RECORD-20261005-s5p-joint-5d-inference-result.md: §3</a:t>
            </a:r>
          </a:p>
          <a:p xmlns:a="http://schemas.openxmlformats.org/drawingml/2006/main">
            <a:r>
              <a:t>Repository /Users/josephbailey/local-research/MINERvA-OmniFold/docs/orchestration/DELIVERY-20261006-s5p-campaign-terminal.md: §1</a:t>
            </a:r>
          </a:p>
          <a:p xmlns:a="http://schemas.openxmlformats.org/drawingml/2006/main">
            <a:r>
              <a:t>Repository /Users/josephbailey/local-research/MINERvA-OmniFold/docs/publication/CLAIMS-20261005-claim-to-evidence.md: §§E–F</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67 seconds; elapsed 1126–1193 seconds</a:t>
            </a:r>
          </a:p>
          <a:p xmlns:a="http://schemas.openxmlformats.org/drawingml/2006/main">
            <a:r>
              <a:t/>
            </a:r>
          </a:p>
          <a:p xmlns:a="http://schemas.openxmlformats.org/drawingml/2006/main">
            <a:r>
              <a:t>Several follow-ups tell us how far to take that inference. Kappa multiplies the change measured in the last grid-refinement step. Along that one direction, all ten decisions remain determinate to about 5.25 in the frozen ensembles. This is a sensitivity scan, not a measurement or bound on the actual unresolved sub-grid error. An exploratory coherent four percent shift of the data-side hadronic energy also does not remove the rejections. It does not vary the null response or cover species dependence, resolution, or larger changes. A matched lower-dimensional comparison does not support a qualified claim that the joint test adds power beyond its coarse projections. In particular, the matched muon-only projection does not reject GENIE CV, so hadronic information matters for that comparison. The conditions on the preceding slide remain in force. Neither these tests nor independent arithmetic checks establish complete hadronic-response modeling.</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/Users/josephbailey/local-research/MINERvA-OmniFold/publication/kappa/RECORD-20261008-kappa-breakdown.md</a:t>
            </a:r>
          </a:p>
          <a:p xmlns:a="http://schemas.openxmlformats.org/drawingml/2006/main">
            <a:r>
              <a:t>Repository /Users/josephbailey/local-research/MINERvA-OmniFold/publication/w2/W2B-REPORT-20261006.md</a:t>
            </a:r>
          </a:p>
          <a:p xmlns:a="http://schemas.openxmlformats.org/drawingml/2006/main">
            <a:r>
              <a:t>Repository /Users/josephbailey/local-research/MINERvA-OmniFold/docs/publication/CLAIMS-20261005-claim-to-evidence.md: §§D–F</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71 seconds; elapsed 1193–1264 seconds</a:t>
            </a:r>
          </a:p>
          <a:p xmlns:a="http://schemas.openxmlformats.org/drawingml/2006/main">
            <a:r>
              <a:t/>
            </a:r>
          </a:p>
          <a:p xmlns:a="http://schemas.openxmlformats.org/drawingml/2006/main">
            <a:r>
              <a:t>The other major direction is PET, the point-cloud transformer used in OmniLearn. Instead of summarizing each event only by a few scalar quantities, it receives a set of detector deposits or simulated particles. A token is one object’s numerical representation. Attention is the learned operation that lets each object use information from the other objects. A point cloud is an unordered set, so the representation should not depend on an arbitrary input ordering. The historical recoil-only cross-check omitted the muon from classifier inputs. The later full-event candidate adds a distinguished muon event input that conditions the transformer. These are different estimators. The stored clouds are energy-ranked and truncated to twelve objects. Detector events often contain far more deposits, so this discards meaningful information. That observation motivated detector energy summaries and comparisons of pooled versus individual object representations. The schematic is a representation diagram, not a display of one measured event.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/Users/josephbailey/local-research/MINERvA-OmniFold/docs/analysis-note/sec_pet.tex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66 seconds; elapsed 1264–1330 seconds</a:t>
            </a:r>
          </a:p>
          <a:p xmlns:a="http://schemas.openxmlformats.org/drawingml/2006/main">
            <a:r>
              <a:t/>
            </a:r>
          </a:p>
          <a:p xmlns:a="http://schemas.openxmlformats.org/drawingml/2006/main">
            <a:r>
              <a:t>The full-event covariance work reached an important stopping point in August. A fifty-member partial statistical covariance exists, but the independent construction check and central pairing were not established. I declined the pairing and demoted PET to diagnostic work. The nominal point estimate lies outside its bootstrap family in a spatially organized way. A bootstrap repeats an analysis after randomly resampling the events, to estimate sampling variation. The observed mismatch is real, but the named bootstrap-centering and bias explanations were not established as its mechanism. The machine-learning covariance, meaning the covariance associated with training variability, was also not constructed, and its gate remains blocked. The later PET studies therefore start from a method-development question. They cannot inherit a publication uncertainty claim from the existence of that earlier artifact. Reconsidering the pairing would require estimator equivalence and separate coverage evidence.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/Users/josephbailey/local-research/MINERvA-OmniFold/docs/analysis-note/sec_pet.tex</a:t>
            </a:r>
          </a:p>
          <a:p xmlns:a="http://schemas.openxmlformats.org/drawingml/2006/main">
            <a:r>
              <a:t>Repository /Users/josephbailey/local-research/MINERvA-OmniFold/VALIDATION_LEDGER.md: VL132</a:t>
            </a:r>
          </a:p>
          <a:p xmlns:a="http://schemas.openxmlformats.org/drawingml/2006/main">
            <a:r>
              <a:t>Repository /Users/josephbailey/local-research/MINERvA-OmniFold/docs/OPEN_ITEMS.md: OI-126</a:t>
            </a:r>
          </a:p>
          <a:p xmlns:a="http://schemas.openxmlformats.org/drawingml/2006/main">
            <a:r>
              <a:t>Repository /Users/josephbailey/local-research/MINERvA-OmniFold/docs/orchestration/state/gate6-member-trajectories-result-56847059.json</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71 seconds; elapsed 1330–1401 seconds</a:t>
            </a:r>
          </a:p>
          <a:p xmlns:a="http://schemas.openxmlformats.org/drawingml/2006/main">
            <a:r>
              <a:t/>
            </a:r>
          </a:p>
          <a:p xmlns:a="http://schemas.openxmlformats.org/drawingml/2006/main">
            <a:r>
              <a:t>The September studies asked whether representation and training changes could improve recovery. We score normalized histograms using one minus the absolute distance between unfolded and target distributions divided by the prior’s distance from that target. That is R: one is exact recovery, zero means no improvement on the prior, and a negative value means moving farther away. The initial improvement study found gains from detector summaries, categorical particle identity and an efficiency-corrected truth step, but no frozen configuration passed both accuracy and stress requirements. The final-design study added longer truth-step training and better seed stability. On sixty final-bank draws of the available-energy tilt, the compact hybrid reaches 0.895 and the larger hybrid 0.863, versus 0.306 for the historical control. Those are substantial point-estimate gains. The banks are fixed finite simulation samples, and the study is signal-only. These results do not establish a universal architecture ranking, real-data performance or calibrated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/Users/josephbailey/local-research/MINERvA-OmniFold/nd-unfolding/pet/final_design/DECISION_RECORD-pet-final-design.md</a:t>
            </a:r>
          </a:p>
          <a:p xmlns:a="http://schemas.openxmlformats.org/drawingml/2006/main">
            <a:r>
              <a:t>Repository /Users/josephbailey/local-research/MINERvA-OmniFold/docs/analysis-note/sec_pet_campaigns.tex</a:t>
            </a:r>
          </a:p>
          <a:p xmlns:a="http://schemas.openxmlformats.org/drawingml/2006/main">
            <a:r>
              <a:t>Repository /Users/josephbailey/local-research/MINERvA-OmniFold/VALIDATION_LEDGER.md: VL164–VL167</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76 seconds; elapsed 1401–1477 seconds</a:t>
            </a:r>
          </a:p>
          <a:p xmlns:a="http://schemas.openxmlformats.org/drawingml/2006/main">
            <a:r>
              <a:t/>
            </a:r>
          </a:p>
          <a:p xmlns:a="http://schemas.openxmlformats.org/drawingml/2006/main">
            <a:r>
              <a:t>The uncertainty test changes the conclusion. Each compact-finalist estimate averages six bootstrap members, and the declared interval uses their spread. On 120 final-bank simulated draws, intervals labeled 68 percent contain truth 89.6 percent of the time in the aggregate available-energy histogram. Those aggregate intervals are too wide under the frozen criterion. But in the low-acceptance region, the same nominal 68 percent intervals cover only 25.7 percent, and nominal 95 percent intervals cover 78.9 percent. So this is not uniform conservatism. Acceptance is the probability that an event enters the selected sample, and the weakly observed region behaves very differently. The compact point estimator passes its accuracy, robustness and stability rules, but its interval construction fails calibration. The larger finalist fails a separate neutron-distortion point rule, with an unresolved statistical comparison around the threshold. The terminal outcome is no eligible design and no selected default. It does not mean neither point estimator is useful, and it does not authorize another round of repair.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/Users/josephbailey/local-research/MINERvA-OmniFold/nd-unfolding/pet/final_design/DECISION_RECORD-pet-final-design.md</a:t>
            </a:r>
          </a:p>
          <a:p xmlns:a="http://schemas.openxmlformats.org/drawingml/2006/main">
            <a:r>
              <a:t>Repository /Users/josephbailey/local-research/MINERvA-OmniFold/docs/analysis-note/sec_pet_campaigns.tex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74 seconds; elapsed 1477–1551 seconds</a:t>
            </a:r>
          </a:p>
          <a:p xmlns:a="http://schemas.openxmlformats.org/drawingml/2006/main">
            <a:r>
              <a:t/>
            </a:r>
          </a:p>
          <a:p xmlns:a="http://schemas.openxmlformats.org/drawingml/2006/main">
            <a:r>
              <a:t>We also fitted a scalar histogram-gradient-boosting comparator to the same event samples, targets and distortions. Pairing means comparing methods on identical draws, which removes much of the variation from using different pseudo-data. PET does better on the available-energy tilt, with recovery gains of 0.102 and 0.070 for the two finalists. The broader distortion library changes the ordering: the tree method performs better on all three tested generator reweightings and on a narrow energy bump. Some proton-content differences shrink or reverse when the tree iteration count changes. Those generator tests reweight a fixed detector simulation; they are not independent detector simulations. This comparison is exploratory because the PET final results had already been examined, and its intervals are not adjusted for the number of comparisons. There is no tree uncertainty procedure to compare, and PET’s own procedure failed. The useful conclusion is that representation helps some departures and loses on others, rather than that one method wins generally.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/Users/josephbailey/local-research/MINERvA-OmniFold/docs/analysis-note/sec_pet_campaigns.tex</a:t>
            </a:r>
          </a:p>
          <a:p xmlns:a="http://schemas.openxmlformats.org/drawingml/2006/main">
            <a:r>
              <a:t>Repository /Users/josephbailey/local-research/MINERvA-OmniFold/VALIDATION_LEDGER.md: VL168</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66 seconds; elapsed 1551–1617 seconds</a:t>
            </a:r>
          </a:p>
          <a:p xmlns:a="http://schemas.openxmlformats.org/drawingml/2006/main">
            <a:r>
              <a:t/>
            </a:r>
          </a:p>
          <a:p xmlns:a="http://schemas.openxmlformats.org/drawingml/2006/main">
            <a:r>
              <a:t>One contribution that is easy to miss in the note’s physics narrative is the infrastructure needed to trust these results. We found that a hardcoded import path could execute modules from a different checkout even while the pinned files passed hash comparisons. That is why guarded execution checks actual provenance, not just a job’s successful exit. A hash identifies file bytes; it does not establish which code ran or whether a scientific criterion is adequate. Similarly, independent numerical recomputation is stronger than two workers repeating a shared summary, but it still checks a defined calculation. The bounded campaigns also taught us to preserve a terminal failure instead of selecting a better-looking iteration after inspection. We now have the note, primer, article and scoped replay materials. Replaying saved sufficient products is distinct from regenerating the full training and pseudo-experiment pipeline.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/Users/josephbailey/local-research/MINERvA-OmniFold/docs/OPEN_ITEMS.md: OI-136</a:t>
            </a:r>
          </a:p>
          <a:p xmlns:a="http://schemas.openxmlformats.org/drawingml/2006/main">
            <a:r>
              <a:t>Repository /Users/josephbailey/local-research/MINERvA-OmniFold/docs/orchestration/CAMPAIGN-REVIEW-20260929.md</a:t>
            </a:r>
          </a:p>
          <a:p xmlns:a="http://schemas.openxmlformats.org/drawingml/2006/main">
            <a:r>
              <a:t>Repository /Users/josephbailey/local-research/MINERvA-OmniFold/docs/publication/submission/PACKAGE-MANIFEST-20261006.md</a:t>
            </a:r>
          </a:p>
          <a:p xmlns:a="http://schemas.openxmlformats.org/drawingml/2006/main">
            <a:r>
              <a:t>Repository /Users/josephbailey/local-research/MINERvA-OmniFold/reproduction/s5p/README.md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63 seconds; elapsed 1617–1680 seconds</a:t>
            </a:r>
          </a:p>
          <a:p xmlns:a="http://schemas.openxmlformats.org/drawingml/2006/main">
            <a:r>
              <a:t/>
            </a:r>
          </a:p>
          <a:p xmlns:a="http://schemas.openxmlformats.org/drawingml/2006/main">
            <a:r>
              <a:t>The article package is assembled for review, with the validation results and limits stated explicitly. It has not been submitted, deposited or sent to coauthors. Its readiness is assessed separately from s5p’s unmet precision-measurement objective. The reviewed successor proposal recommends stopping immediate measurement production and first checking whether the existing two-dimensional central estimator and uncertainty recipe can be made consistently matched. Narrowing the measurement scope would itself need a scientific decision. For PET, the point-estimate improvements are worth understanding, while interval calibration is a separate problem. The questions I would like to discuss are which scientific result should lead the paper and which next validation would most improve its credibility. My preference is to resolve those questions before committing to another large campaign. [Pause here for two minutes of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/Users/josephbailey/local-research/MINERvA-OmniFold/docs/publication/submission/PACKAGE-MANIFEST-20261006.md</a:t>
            </a:r>
          </a:p>
          <a:p xmlns:a="http://schemas.openxmlformats.org/drawingml/2006/main">
            <a:r>
              <a:t>Repository /Users/josephbailey/local-research/MINERvA-OmniFold/docs/orchestration/PROPOSAL-20261005-scalar-measurement-successor.md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ECAL means electromagnetic calorimeter. A blob is a reconstructed aggregate of detector energy. Muon fuzz is energy associated with the muon’s nearby deposits and subtracted from the recoil estimate. No final nonnegative clamp is applied to the reconstructed quantity. The truth definition excludes secondary electrons, neutrons, kaons and other species not explicitly listed. The charged-pion subtraction uses 135 MeV rather than about 139.57 MeV. The effect has been measured, but its materiality against the adopted 5D projection is not established. There is no universal published available-energy convention. Do not describe this implementation as generically matching all low-recoil publications.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/Users/josephbailey/local-research/MINERvA-OmniFold/docs/analysis-note/sec_3d.tex: operational definition</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At reconstruction level q zero comes from calorimetry and Q squared combines that energy estimate with the muon kinematics. M is the nucleon mass used in the estimator. These expressions motivate the variables, but nuclear motion and reconstruction mean W is an operational experimenter’s quantity, not a complete measurement of every final-state particle’s invariant mass. Quasielastic scattering, baryon resonances and deep-inelastic interactions populate different regions without forming perfectly separated event classes. The quantities are correlated and change under lateral systematics, which shift event coordinates rather than only their weights.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/Users/josephbailey/local-research/MINERvA-OmniFold/docs/analysis-note/sec_3d.tex: fourth axis</a:t>
            </a:r>
          </a:p>
          <a:p xmlns:a="http://schemas.openxmlformats.org/drawingml/2006/main">
            <a:r>
              <a:t>Repository /Users/josephbailey/local-research/MINERvA-OmniFold/docs/analysis-note/sec_eavailw.tex: W as a fifth axis</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 full digest is 3d7465f66fbe66b0dfcf09b6fc51249f227fb33e97ae40bc78dda90275e918c5. The projection digest begins 835828bf. Identity verification establishes which covariance was projected, not its statistical adequacy. The predeclaration ordering defect is ratified by exception, not cured, and no declared cause-3 boundary was evaluated by production. The paired measurement products used for the seed comparison are different digests and are not separately adopted. Five pinned bands are BeamAngleX, BeamAngleY, MuonResolution, Muon_Energy_MINERvA and Muon_Energy_MINOS. Their seed effect is unprobed in either direction. See slide 13 for the mandatory numerical measurements and their finite-ensemble scope.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/Users/josephbailey/local-research/MINERvA-OmniFold/docs/orchestration/DECISION-20260920-joseph-adopts-z-cv-under-the-6.4-exception.md</a:t>
            </a:r>
          </a:p>
          <a:p xmlns:a="http://schemas.openxmlformats.org/drawingml/2006/main">
            <a:r>
              <a:t>Repository /Users/josephbailey/local-research/MINERvA-OmniFold/docs/orchestration/OPERATIVE-SHEET-scalar5d.md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These statistics belong only to the hybrid-null construction and the six conditions on slide 16. The frozen family has zero exceedances in nine tests and one in NuWro shape. Clopper–Pearson intervals are exact binomial confidence intervals for the exceedance probability. Determinacy requires those Monte Carlo intervals to resolve the decision relative to the multiple-testing threshold. The lost-draw recovery is report-only. Four nulls would have stopped one batch earlier with complete batches, with the same decisions. The closest recovered margin is 4.6 statistic units for GENIE plus MEC shape at kappa three. Independent checks cover the frozen-shift reading; the union reading is a same-code consistency replay. A small conditional p-value does not identify a nuclear mechanism or localize a discrepancy.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/Users/josephbailey/local-research/MINERvA-OmniFold/docs/orchestration/DELIVERY-20261006-s5p-campaign-terminal.md</a:t>
            </a:r>
          </a:p>
          <a:p xmlns:a="http://schemas.openxmlformats.org/drawingml/2006/main">
            <a:r>
              <a:t>Repository /Users/josephbailey/local-research/MINERvA-OmniFold/docs/orchestration/RECORD-20261005-s5p-joint-5d-inference-result.md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Pooling summarizes several objects into one representation. Individual routing gives each object its own attention token. The synthetic comparison used a small fixed object fixture and cannot settle production-multiplicity performance. The production cap acts on generic calorimeter clusters, not simply a thin typed-object tail. Later hybrid designs use energy summaries to recover some omitted information. PDG is the particle-identity code assigned by the Particle Data Group. One-hot encoding represents identity with separate category indicators rather than treating the code as a continuous number. PET2 is a tested pretrained model family. Pretraining means learning on another sample before this task. Its failure here applies to the tested recipes, not all possible pretraining. CPU–GPU optimizer differences were also investigated; numerical reproducibility does not establish physical accuracy.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/Users/josephbailey/local-research/MINERvA-OmniFold/nd-unfolding/pet/direct_token_comparison/REPORT_FOR_BEN.md</a:t>
            </a:r>
          </a:p>
          <a:p xmlns:a="http://schemas.openxmlformats.org/drawingml/2006/main">
            <a:r>
              <a:t>Repository /Users/josephbailey/local-research/MINERvA-OmniFold/nd-unfolding/pet/direct_token_comparison/GO_NO_GO-20260918.md</a:t>
            </a:r>
          </a:p>
          <a:p xmlns:a="http://schemas.openxmlformats.org/drawingml/2006/main">
            <a:r>
              <a:t>Repository /Users/josephbailey/local-research/MINERvA-OmniFold/docs/analysis-note/sec_pet_campaigns.tex</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These labels identify successive bounded campaigns, not distinct published measurements. They are all terminal. The background repair is a causal diagnosis for one nominal-bias component. The physical truth-departure failure remains without a single established cause. Reopening a closed study would require a new decision and contract. R is a targeted refinement change, not the production central-value estimator. A nominal-truth calibration check cannot establish performance over every alternative truth, and a pooled calibration result can hide individual functionals with poor coverage. A functional is any declared quantity extracted from the distribution, such as a bin, integral or projection.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/Users/josephbailey/local-research/MINERvA-OmniFold/VALIDATION_LEDGER.md: VL149–VL155</a:t>
            </a:r>
          </a:p>
          <a:p xmlns:a="http://schemas.openxmlformats.org/drawingml/2006/main">
            <a:r>
              <a:t>Repository /Users/josephbailey/local-research/MINERvA-OmniFold/docs/orchestration/OUTCOME-20260926-s5e-oi192-diagnosis-and-candidate.md</a:t>
            </a:r>
          </a:p>
          <a:p xmlns:a="http://schemas.openxmlformats.org/drawingml/2006/main">
            <a:r>
              <a:t>Repository /Users/josephbailey/local-research/MINERvA-OmniFold/docs/orchestration/DELIVERY-20261006-s5p-campaign-terminal.md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outside the timed talk</a:t>
            </a:r>
          </a:p>
          <a:p xmlns:a="http://schemas.openxmlformats.org/drawingml/2006/main">
            <a:r>
              <a:t/>
            </a:r>
          </a:p>
          <a:p xmlns:a="http://schemas.openxmlformats.org/drawingml/2006/main">
            <a:r>
              <a:t>Sufficient products are the stored quantities needed to recompute the reported inference without regenerating every event or training run. RC4 is a local release candidate, not a public deposit. Its scope excludes reproducing the 2D uncertainty, closure, bias, low-recoil, W2 and covariance-status numbers, as listed in its README. Those results retain their own evidence routes. The article still needs author decisions and external-release actions, including coauthor review, deposit and submission. None of those acts is authorized by preparing this talk.</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Repository /Users/josephbailey/local-research/MINERvA-OmniFold/docs/publication/submission/PACKAGE-MANIFEST-20261006.md</a:t>
            </a:r>
          </a:p>
          <a:p xmlns:a="http://schemas.openxmlformats.org/drawingml/2006/main">
            <a:r>
              <a:t>Repository /Users/josephbailey/local-research/MINERvA-OmniFold/docs/publication/release/RC4-README.md</a:t>
            </a:r>
          </a:p>
          <a:p xmlns:a="http://schemas.openxmlformats.org/drawingml/2006/main">
            <a:r>
              <a:t>Repository /Users/josephbailey/local-research/MINERvA-OmniFold/reproduction/s5p/README.md</a:t>
            </a:r>
          </a:p>
          <a:p xmlns:a="http://schemas.openxmlformats.org/drawingml/2006/main">
            <a:r>
              <a:t/>
            </a:r>
          </a:p>
          <a:p xmlns:a="http://schemas.openxmlformats.org/drawingml/2006/main">
            <a:r>
              <a:t>Evidence snapshot: f6dc46e6afef9efa8722d01b43c3f2b379b41314, 2026-10-10. Presenter paraphrase of committed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de21e9c4d741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f7f2b393514a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78bb3d702846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54afb1052246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6e17c9794241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a6120528d344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59EB67-B162-4354-AB88-C96D606992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EF2E9B-4F30-4709-AA58-6F892B108A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E3AE45-0C22-4300-8FCA-7B0AD206D5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96174-5D9F-4C2B-925E-C038F9406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B3C4BC-D2F3-4BB7-BBF9-C5B13F149A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0B21E-AE36-41CF-A7EE-1F438FE07A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53999D-C056-4C9F-867D-98E1C0E51E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282933-4A65-45A1-BE47-DE2565E29B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2E9ABA-DB20-4B7C-8574-B38C70CF4B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F971BE-A6DE-44DC-8A7F-B3D624990C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252610bae74eda" /><Relationship Type="http://schemas.openxmlformats.org/officeDocument/2006/relationships/slideLayout" Target="/ppt/slideLayouts/slideLayout1.xml" Id="Rd28c23fc555746cc" /><Relationship Type="http://schemas.openxmlformats.org/officeDocument/2006/relationships/slideLayout" Target="/ppt/slideLayouts/slideLayout2.xml" Id="Red9e47ce46b946df" /><Relationship Type="http://schemas.openxmlformats.org/officeDocument/2006/relationships/slideLayout" Target="/ppt/slideLayouts/slideLayout3.xml" Id="R1bee598b3b654423" /><Relationship Type="http://schemas.openxmlformats.org/officeDocument/2006/relationships/slideLayout" Target="/ppt/slideLayouts/slideLayout4.xml" Id="Rd0ebb93e9bd643e9" /><Relationship Type="http://schemas.openxmlformats.org/officeDocument/2006/relationships/slideLayout" Target="/ppt/slideLayouts/slideLayout5.xml" Id="R4c72b5b036274607" /><Relationship Type="http://schemas.openxmlformats.org/officeDocument/2006/relationships/slideLayout" Target="/ppt/slideLayouts/slideLayout6.xml" Id="R47ae889579f743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8c23fc555746cc"/>
    <p:sldLayoutId xmlns:r="http://schemas.openxmlformats.org/officeDocument/2006/relationships" id="2147483650" r:id="Red9e47ce46b946df"/>
    <p:sldLayoutId xmlns:r="http://schemas.openxmlformats.org/officeDocument/2006/relationships" id="2147483651" r:id="R1bee598b3b654423"/>
    <p:sldLayoutId xmlns:r="http://schemas.openxmlformats.org/officeDocument/2006/relationships" id="2147483652" r:id="Rd0ebb93e9bd643e9"/>
    <p:sldLayoutId xmlns:r="http://schemas.openxmlformats.org/officeDocument/2006/relationships" id="2147483653" r:id="R4c72b5b036274607"/>
    <p:sldLayoutId xmlns:r="http://schemas.openxmlformats.org/officeDocument/2006/relationships" id="2147483654" r:id="R47ae889579f743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39725b419d47b0" /><Relationship Type="http://schemas.openxmlformats.org/officeDocument/2006/relationships/notesSlide" Target="/ppt/notesSlides/notesSlide1.xml" Id="Rc6a8386ce43648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2e014841314a58" /><Relationship Type="http://schemas.openxmlformats.org/officeDocument/2006/relationships/notesSlide" Target="/ppt/notesSlides/notesSlide2.xml" Id="R1e0b369fe90547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ea302dcaf34e0d" /><Relationship Type="http://schemas.openxmlformats.org/officeDocument/2006/relationships/notesSlide" Target="/ppt/notesSlides/notesSlide3.xml" Id="R8f369c74bbab4a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72d6470c4a488a" /><Relationship Type="http://schemas.openxmlformats.org/officeDocument/2006/relationships/notesSlide" Target="/ppt/notesSlides/notesSlide4.xml" Id="R1399b2d25b494d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17704e80614c10" /><Relationship Type="http://schemas.openxmlformats.org/officeDocument/2006/relationships/notesSlide" Target="/ppt/notesSlides/notesSlide5.xml" Id="Raf5c05b1a8a045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5be3a131bf48cf" /><Relationship Type="http://schemas.openxmlformats.org/officeDocument/2006/relationships/image" Target="/ppt/media/image.png" Id="Rd6f6b941a3a44845" /><Relationship Type="http://schemas.openxmlformats.org/officeDocument/2006/relationships/notesSlide" Target="/ppt/notesSlides/notesSlide6.xml" Id="R1a8803a00d234e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91c278fbc448e7" /><Relationship Type="http://schemas.openxmlformats.org/officeDocument/2006/relationships/notesSlide" Target="/ppt/notesSlides/notesSlide7.xml" Id="Ra13a140d7f6b41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7880effa824b42" /><Relationship Type="http://schemas.openxmlformats.org/officeDocument/2006/relationships/notesSlide" Target="/ppt/notesSlides/notesSlide8.xml" Id="Re5f3544f997743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2343d455f14fb2" /><Relationship Type="http://schemas.openxmlformats.org/officeDocument/2006/relationships/notesSlide" Target="/ppt/notesSlides/notesSlide9.xml" Id="R12cbeffa85db4c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acae36544844ca" /><Relationship Type="http://schemas.openxmlformats.org/officeDocument/2006/relationships/image" Target="/ppt/media/image2.png" Id="R787c95bc40be4250" /><Relationship Type="http://schemas.openxmlformats.org/officeDocument/2006/relationships/notesSlide" Target="/ppt/notesSlides/notesSlide10.xml" Id="R7858d55b0c694b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7c77395e504950" /><Relationship Type="http://schemas.openxmlformats.org/officeDocument/2006/relationships/image" Target="/ppt/media/image3.png" Id="R9176d3933d2f4fa2" /><Relationship Type="http://schemas.openxmlformats.org/officeDocument/2006/relationships/notesSlide" Target="/ppt/notesSlides/notesSlide11.xml" Id="R6701a88651444c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499849948d24fb9" /><Relationship Type="http://schemas.openxmlformats.org/officeDocument/2006/relationships/image" Target="/ppt/media/image4.png" Id="R401ff5d493024066" /><Relationship Type="http://schemas.openxmlformats.org/officeDocument/2006/relationships/notesSlide" Target="/ppt/notesSlides/notesSlide12.xml" Id="Rfcb3b036badb47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db2a8fa4884cf6" /><Relationship Type="http://schemas.openxmlformats.org/officeDocument/2006/relationships/notesSlide" Target="/ppt/notesSlides/notesSlide13.xml" Id="R1de7bffed54444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fbab14d20f4c8d" /><Relationship Type="http://schemas.openxmlformats.org/officeDocument/2006/relationships/notesSlide" Target="/ppt/notesSlides/notesSlide14.xml" Id="R11b4533628494d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05d20768be43bf" /><Relationship Type="http://schemas.openxmlformats.org/officeDocument/2006/relationships/notesSlide" Target="/ppt/notesSlides/notesSlide15.xml" Id="Rb4567dab3f2949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6187b92c084feb" /><Relationship Type="http://schemas.openxmlformats.org/officeDocument/2006/relationships/notesSlide" Target="/ppt/notesSlides/notesSlide16.xml" Id="R778945b4631642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cabf0371f0849c5" /><Relationship Type="http://schemas.openxmlformats.org/officeDocument/2006/relationships/notesSlide" Target="/ppt/notesSlides/notesSlide17.xml" Id="R43ef6088a0b642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06b62055f2546cd" /><Relationship Type="http://schemas.openxmlformats.org/officeDocument/2006/relationships/notesSlide" Target="/ppt/notesSlides/notesSlide18.xml" Id="R9bd88b0b606744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413a7f8c04b41ef" /><Relationship Type="http://schemas.openxmlformats.org/officeDocument/2006/relationships/notesSlide" Target="/ppt/notesSlides/notesSlide19.xml" Id="R14379b9268d74e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fe49a2790ed4abc" /><Relationship Type="http://schemas.openxmlformats.org/officeDocument/2006/relationships/notesSlide" Target="/ppt/notesSlides/notesSlide20.xml" Id="R28f76aa0415e4c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a4ac72ace394642" /><Relationship Type="http://schemas.openxmlformats.org/officeDocument/2006/relationships/notesSlide" Target="/ppt/notesSlides/notesSlide21.xml" Id="R26c7e4311c3e40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c52d3507a7c41f1" /><Relationship Type="http://schemas.openxmlformats.org/officeDocument/2006/relationships/notesSlide" Target="/ppt/notesSlides/notesSlide22.xml" Id="R702d7bc8bc6641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9d40e3fbb784232" /><Relationship Type="http://schemas.openxmlformats.org/officeDocument/2006/relationships/notesSlide" Target="/ppt/notesSlides/notesSlide23.xml" Id="R553e54c331824a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fc0a44a86084b18" /><Relationship Type="http://schemas.openxmlformats.org/officeDocument/2006/relationships/notesSlide" Target="/ppt/notesSlides/notesSlide24.xml" Id="R0af1cf9bca4848d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a2945ffcb334ae2" /><Relationship Type="http://schemas.openxmlformats.org/officeDocument/2006/relationships/notesSlide" Target="/ppt/notesSlides/notesSlide25.xml" Id="Rd460606ee9494a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4b38368f4584645" /><Relationship Type="http://schemas.openxmlformats.org/officeDocument/2006/relationships/notesSlide" Target="/ppt/notesSlides/notesSlide26.xml" Id="R5ad77677dda04b7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975183e1d2d4afa" /><Relationship Type="http://schemas.openxmlformats.org/officeDocument/2006/relationships/notesSlide" Target="/ppt/notesSlides/notesSlide27.xml" Id="R2e828140188b44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f58b9e059424840" /><Relationship Type="http://schemas.openxmlformats.org/officeDocument/2006/relationships/notesSlide" Target="/ppt/notesSlides/notesSlide28.xml" Id="R1115b2f52b69481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b995fed3665478d" /><Relationship Type="http://schemas.openxmlformats.org/officeDocument/2006/relationships/notesSlide" Target="/ppt/notesSlides/notesSlide29.xml" Id="R4a4f6afdf9f845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4a80a362a72483b" /><Relationship Type="http://schemas.openxmlformats.org/officeDocument/2006/relationships/notesSlide" Target="/ppt/notesSlides/notesSlide30.xml" Id="R8fdae8d1b73b4c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f3eb14d141e4ec8" /><Relationship Type="http://schemas.openxmlformats.org/officeDocument/2006/relationships/notesSlide" Target="/ppt/notesSlides/notesSlide31.xml" Id="R5a349e63bfa1455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07C45-039A-45F1-9FD4-A3F887156B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AFB49-DFB6-47AC-8204-EA65144E0D01}"/>
              </a:ext>
            </a:extLst>
          </p:cNvPr>
          <p:cNvSpPr>
            <a:spLocks xmlns:a="http://schemas.openxmlformats.org/drawingml/2006/main" noGrp="1"/>
          </p:cNvSpPr>
          <p:nvPr/>
        </p:nvSpPr>
        <p:spPr>
          <a:xfrm xmlns:a="http://schemas.openxmlformats.org/drawingml/2006/main">
            <a:off x="762000" y="1190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16334B"/>
                </a:solidFill>
                <a:latin typeface="Helvetica Neue"/>
                <a:ea typeface="Helvetica Neue"/>
                <a:cs typeface="Helvetica Neue"/>
              </a:defRPr>
            </a:defPPr>
          </a:lstStyle>
          <a:p xmlns:a="http://schemas.openxmlformats.org/drawingml/2006/main">
            <a:pPr>
              <a:defRPr sz="4950" b="1">
                <a:solidFill>
                  <a:srgbClr val="16334B"/>
                </a:solidFill>
                <a:latin typeface="Helvetica Neue"/>
                <a:ea typeface="Helvetica Neue"/>
                <a:cs typeface="Helvetica Neue"/>
              </a:defRPr>
            </a:pPr>
            <a:r>
              <a:rPr sz="4950" b="1">
                <a:solidFill>
                  <a:srgbClr val="16334B"/>
                </a:solidFill>
                <a:latin typeface="Helvetica Neue"/>
                <a:ea typeface="Helvetica Neue"/>
                <a:cs typeface="Helvetica Neue"/>
              </a:rPr>
              <a:t>MINERvA OmniFold</a:t>
            </a:r>
          </a:p>
        </p:txBody>
      </p:sp>
      <p:sp>
        <p:nvSpPr>
          <p:cNvPr id="3" name="">
            <a:extLst xmlns:a="http://schemas.openxmlformats.org/drawingml/2006/main">
              <a:ext uri="{FF2B5EF4-FFF2-40B4-BE49-F238E27FC236}">
                <a16:creationId xmlns:a16="http://schemas.microsoft.com/office/drawing/2014/main" id="{38F28AC4-6354-48C9-A7E8-9CAB6C9EC07C}"/>
              </a:ext>
            </a:extLst>
          </p:cNvPr>
          <p:cNvSpPr>
            <a:spLocks xmlns:a="http://schemas.openxmlformats.org/drawingml/2006/main" noGrp="1"/>
          </p:cNvSpPr>
          <p:nvPr/>
        </p:nvSpPr>
        <p:spPr>
          <a:xfrm xmlns:a="http://schemas.openxmlformats.org/drawingml/2006/main">
            <a:off x="800100" y="23336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0">
                <a:solidFill>
                  <a:srgbClr val="087F8C"/>
                </a:solidFill>
                <a:latin typeface="Helvetica Neue"/>
                <a:ea typeface="Helvetica Neue"/>
                <a:cs typeface="Helvetica Neue"/>
              </a:defRPr>
            </a:defPPr>
          </a:lstStyle>
          <a:p xmlns:a="http://schemas.openxmlformats.org/drawingml/2006/main">
            <a:pPr>
              <a:defRPr sz="2700" b="0">
                <a:solidFill>
                  <a:srgbClr val="087F8C"/>
                </a:solidFill>
                <a:latin typeface="Helvetica Neue"/>
                <a:ea typeface="Helvetica Neue"/>
                <a:cs typeface="Helvetica Neue"/>
              </a:defRPr>
            </a:pPr>
            <a:r>
              <a:rPr sz="2700" b="0">
                <a:solidFill>
                  <a:srgbClr val="087F8C"/>
                </a:solidFill>
                <a:latin typeface="Helvetica Neue"/>
                <a:ea typeface="Helvetica Neue"/>
                <a:cs typeface="Helvetica Neue"/>
              </a:rPr>
              <a:t>Research catch-up with Ben</a:t>
            </a:r>
          </a:p>
        </p:txBody>
      </p:sp>
      <p:sp>
        <p:nvSpPr>
          <p:cNvPr id="4" name="">
            <a:extLst xmlns:a="http://schemas.openxmlformats.org/drawingml/2006/main">
              <a:ext uri="{FF2B5EF4-FFF2-40B4-BE49-F238E27FC236}">
                <a16:creationId xmlns:a16="http://schemas.microsoft.com/office/drawing/2014/main" id="{5F5C2765-0DA9-4AAE-8180-D4DD1F6E681F}"/>
              </a:ext>
            </a:extLst>
          </p:cNvPr>
          <p:cNvSpPr>
            <a:spLocks xmlns:a="http://schemas.openxmlformats.org/drawingml/2006/main" noGrp="1"/>
          </p:cNvSpPr>
          <p:nvPr/>
        </p:nvSpPr>
        <p:spPr>
          <a:xfrm xmlns:a="http://schemas.openxmlformats.org/drawingml/2006/main">
            <a:off x="800100" y="3619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Joseph Bailey</a:t>
            </a:r>
          </a:p>
        </p:txBody>
      </p:sp>
      <p:sp>
        <p:nvSpPr>
          <p:cNvPr id="5" name="">
            <a:extLst xmlns:a="http://schemas.openxmlformats.org/drawingml/2006/main">
              <a:ext uri="{FF2B5EF4-FFF2-40B4-BE49-F238E27FC236}">
                <a16:creationId xmlns:a16="http://schemas.microsoft.com/office/drawing/2014/main" id="{8144112E-6750-4734-84BA-A1E5541662CE}"/>
              </a:ext>
            </a:extLst>
          </p:cNvPr>
          <p:cNvSpPr>
            <a:spLocks xmlns:a="http://schemas.openxmlformats.org/drawingml/2006/main" noGrp="1"/>
          </p:cNvSpPr>
          <p:nvPr/>
        </p:nvSpPr>
        <p:spPr>
          <a:xfrm xmlns:a="http://schemas.openxmlformats.org/drawingml/2006/main">
            <a:off x="800100" y="42672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34B"/>
                </a:solidFill>
                <a:latin typeface="Helvetica Neue"/>
                <a:ea typeface="Helvetica Neue"/>
                <a:cs typeface="Helvetica Neue"/>
              </a:defRPr>
            </a:defPPr>
          </a:lstStyle>
          <a:p xmlns:a="http://schemas.openxmlformats.org/drawingml/2006/main">
            <a:pPr>
              <a:defRPr sz="2250" b="0">
                <a:solidFill>
                  <a:srgbClr val="16334B"/>
                </a:solidFill>
                <a:latin typeface="Helvetica Neue"/>
                <a:ea typeface="Helvetica Neue"/>
                <a:cs typeface="Helvetica Neue"/>
              </a:defRPr>
            </a:pPr>
            <a:r>
              <a:rPr sz="2250" b="0">
                <a:solidFill>
                  <a:srgbClr val="16334B"/>
                </a:solidFill>
                <a:latin typeface="Helvetica Neue"/>
                <a:ea typeface="Helvetica Neue"/>
                <a:cs typeface="Helvetica Neue"/>
              </a:rPr>
              <a:t>2D validation, higher-dimensional inference, and full-event learning</a:t>
            </a:r>
          </a:p>
        </p:txBody>
      </p:sp>
      <p:sp>
        <p:nvSpPr>
          <p:cNvPr id="6" name="">
            <a:extLst xmlns:a="http://schemas.openxmlformats.org/drawingml/2006/main">
              <a:ext uri="{FF2B5EF4-FFF2-40B4-BE49-F238E27FC236}">
                <a16:creationId xmlns:a16="http://schemas.microsoft.com/office/drawing/2014/main" id="{949B0659-4EAD-4C66-B81B-9B30B5A85197}"/>
              </a:ext>
            </a:extLst>
          </p:cNvPr>
          <p:cNvSpPr>
            <a:spLocks xmlns:a="http://schemas.openxmlformats.org/drawingml/2006/main" noGrp="1"/>
          </p:cNvSpPr>
          <p:nvPr/>
        </p:nvSpPr>
        <p:spPr>
          <a:xfrm xmlns:a="http://schemas.openxmlformats.org/drawingml/2006/main">
            <a:off x="800100" y="5857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06474"/>
                </a:solidFill>
                <a:latin typeface="Helvetica Neue"/>
                <a:ea typeface="Helvetica Neue"/>
                <a:cs typeface="Helvetica Neue"/>
              </a:defRPr>
            </a:defPPr>
          </a:lstStyle>
          <a:p xmlns:a="http://schemas.openxmlformats.org/drawingml/2006/main">
            <a:pPr>
              <a:defRPr sz="1650" b="0">
                <a:solidFill>
                  <a:srgbClr val="506474"/>
                </a:solidFill>
                <a:latin typeface="Helvetica Neue"/>
                <a:ea typeface="Helvetica Neue"/>
                <a:cs typeface="Helvetica Neue"/>
              </a:defRPr>
            </a:pPr>
            <a:r>
              <a:rPr sz="1650" b="0">
                <a:solidFill>
                  <a:srgbClr val="506474"/>
                </a:solidFill>
                <a:latin typeface="Helvetica Neue"/>
                <a:ea typeface="Helvetica Neue"/>
                <a:cs typeface="Helvetica Neue"/>
              </a:rPr>
              <a:t>10 October 2026</a:t>
            </a:r>
          </a:p>
        </p:txBody>
      </p:sp>
    </p:spTree>
    <p:extLst>
      <p:ext uri="{BB962C8B-B14F-4D97-AF65-F5344CB8AC3E}">
        <p14:creationId xmlns:p14="http://schemas.microsoft.com/office/powerpoint/2010/main" val="625949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07575C-2CE0-485B-97DB-8C15E1FFA64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project now has three distinct outcomes</a:t>
            </a:r>
          </a:p>
        </p:txBody>
      </p:sp>
      <p:sp>
        <p:nvSpPr>
          <p:cNvPr id="2" name="">
            <a:extLst xmlns:a="http://schemas.openxmlformats.org/drawingml/2006/main">
              <a:ext uri="{FF2B5EF4-FFF2-40B4-BE49-F238E27FC236}">
                <a16:creationId xmlns:a16="http://schemas.microsoft.com/office/drawing/2014/main" id="{D8FDF8D8-D412-431A-AFAC-DD810C54B5B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629A62-F717-4F26-8B81-2DCFAC31BF30}"/>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reproduction</a:t>
            </a:r>
          </a:p>
        </p:txBody>
      </p:sp>
      <p:sp>
        <p:nvSpPr>
          <p:cNvPr id="4" name="">
            <a:extLst xmlns:a="http://schemas.openxmlformats.org/drawingml/2006/main">
              <a:ext uri="{FF2B5EF4-FFF2-40B4-BE49-F238E27FC236}">
                <a16:creationId xmlns:a16="http://schemas.microsoft.com/office/drawing/2014/main" id="{D1140AAA-0E89-4510-A0C8-77E40574E0E4}"/>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Validated central result and a rebuilt uncertainty construction</a:t>
            </a:r>
          </a:p>
        </p:txBody>
      </p:sp>
      <p:sp>
        <p:nvSpPr>
          <p:cNvPr id="5" name="">
            <a:extLst xmlns:a="http://schemas.openxmlformats.org/drawingml/2006/main">
              <a:ext uri="{FF2B5EF4-FFF2-40B4-BE49-F238E27FC236}">
                <a16:creationId xmlns:a16="http://schemas.microsoft.com/office/drawing/2014/main" id="{7E82E136-419C-46E9-9ACA-E5F8068EF24B}"/>
              </a:ext>
            </a:extLst>
          </p:cNvPr>
          <p:cNvSpPr>
            <a:spLocks xmlns:a="http://schemas.openxmlformats.org/drawingml/2006/main" noGrp="1"/>
          </p:cNvSpPr>
          <p:nvPr/>
        </p:nvSpPr>
        <p:spPr>
          <a:xfrm xmlns:a="http://schemas.openxmlformats.org/drawingml/2006/main">
            <a:off x="628650" y="2781300"/>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20BC54-4716-415C-A3AC-2F3E3B5F3C91}"/>
              </a:ext>
            </a:extLst>
          </p:cNvPr>
          <p:cNvSpPr>
            <a:spLocks xmlns:a="http://schemas.openxmlformats.org/drawingml/2006/main" noGrp="1"/>
          </p:cNvSpPr>
          <p:nvPr/>
        </p:nvSpPr>
        <p:spPr>
          <a:xfrm xmlns:a="http://schemas.openxmlformats.org/drawingml/2006/main">
            <a:off x="628650" y="292417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to 5D scalar studies</a:t>
            </a:r>
          </a:p>
        </p:txBody>
      </p:sp>
      <p:sp>
        <p:nvSpPr>
          <p:cNvPr id="7" name="">
            <a:extLst xmlns:a="http://schemas.openxmlformats.org/drawingml/2006/main">
              <a:ext uri="{FF2B5EF4-FFF2-40B4-BE49-F238E27FC236}">
                <a16:creationId xmlns:a16="http://schemas.microsoft.com/office/drawing/2014/main" id="{F096E3B8-71A9-42FD-BC57-F3F1358D2BD2}"/>
              </a:ext>
            </a:extLst>
          </p:cNvPr>
          <p:cNvSpPr>
            <a:spLocks xmlns:a="http://schemas.openxmlformats.org/drawingml/2006/main" noGrp="1"/>
          </p:cNvSpPr>
          <p:nvPr/>
        </p:nvSpPr>
        <p:spPr>
          <a:xfrm xmlns:a="http://schemas.openxmlformats.org/drawingml/2006/main">
            <a:off x="3762375" y="2924175"/>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Validated finite closure tests and conditional generator inference</a:t>
            </a:r>
          </a:p>
        </p:txBody>
      </p:sp>
      <p:sp>
        <p:nvSpPr>
          <p:cNvPr id="8" name="">
            <a:extLst xmlns:a="http://schemas.openxmlformats.org/drawingml/2006/main">
              <a:ext uri="{FF2B5EF4-FFF2-40B4-BE49-F238E27FC236}">
                <a16:creationId xmlns:a16="http://schemas.microsoft.com/office/drawing/2014/main" id="{416FE74A-647A-48CA-8365-CB66F06926F5}"/>
              </a:ext>
            </a:extLst>
          </p:cNvPr>
          <p:cNvSpPr>
            <a:spLocks xmlns:a="http://schemas.openxmlformats.org/drawingml/2006/main" noGrp="1"/>
          </p:cNvSpPr>
          <p:nvPr/>
        </p:nvSpPr>
        <p:spPr>
          <a:xfrm xmlns:a="http://schemas.openxmlformats.org/drawingml/2006/main">
            <a:off x="628650" y="4048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E673536-FAC4-4CF5-9162-0DC85BE423E0}"/>
              </a:ext>
            </a:extLst>
          </p:cNvPr>
          <p:cNvSpPr>
            <a:spLocks xmlns:a="http://schemas.openxmlformats.org/drawingml/2006/main" noGrp="1"/>
          </p:cNvSpPr>
          <p:nvPr/>
        </p:nvSpPr>
        <p:spPr>
          <a:xfrm xmlns:a="http://schemas.openxmlformats.org/drawingml/2006/main">
            <a:off x="628650" y="4191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Full-event PET studies</a:t>
            </a:r>
          </a:p>
        </p:txBody>
      </p:sp>
      <p:sp>
        <p:nvSpPr>
          <p:cNvPr id="10" name="">
            <a:extLst xmlns:a="http://schemas.openxmlformats.org/drawingml/2006/main">
              <a:ext uri="{FF2B5EF4-FFF2-40B4-BE49-F238E27FC236}">
                <a16:creationId xmlns:a16="http://schemas.microsoft.com/office/drawing/2014/main" id="{9F0F462C-735D-4310-9E40-7DCB4B31D854}"/>
              </a:ext>
            </a:extLst>
          </p:cNvPr>
          <p:cNvSpPr>
            <a:spLocks xmlns:a="http://schemas.openxmlformats.org/drawingml/2006/main" noGrp="1"/>
          </p:cNvSpPr>
          <p:nvPr/>
        </p:nvSpPr>
        <p:spPr>
          <a:xfrm xmlns:a="http://schemas.openxmlformats.org/drawingml/2006/main">
            <a:off x="3762375" y="4191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Better recovery in simulation, but no eligible uncertainty procedure</a:t>
            </a:r>
          </a:p>
        </p:txBody>
      </p:sp>
      <p:sp>
        <p:nvSpPr>
          <p:cNvPr id="11" name="">
            <a:extLst xmlns:a="http://schemas.openxmlformats.org/drawingml/2006/main">
              <a:ext uri="{FF2B5EF4-FFF2-40B4-BE49-F238E27FC236}">
                <a16:creationId xmlns:a16="http://schemas.microsoft.com/office/drawing/2014/main" id="{F617E682-C6F6-4254-871F-0D62A15C9C24}"/>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02</a:t>
            </a:r>
          </a:p>
        </p:txBody>
      </p:sp>
    </p:spTree>
    <p:extLst>
      <p:ext uri="{BB962C8B-B14F-4D97-AF65-F5344CB8AC3E}">
        <p14:creationId xmlns:p14="http://schemas.microsoft.com/office/powerpoint/2010/main" val="16697738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BEE7C7-DFEC-4AFA-BFD0-51F642A12FB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data and the measurement</a:t>
            </a:r>
          </a:p>
        </p:txBody>
      </p:sp>
      <p:sp>
        <p:nvSpPr>
          <p:cNvPr id="2" name="">
            <a:extLst xmlns:a="http://schemas.openxmlformats.org/drawingml/2006/main">
              <a:ext uri="{FF2B5EF4-FFF2-40B4-BE49-F238E27FC236}">
                <a16:creationId xmlns:a16="http://schemas.microsoft.com/office/drawing/2014/main" id="{4914A4B6-623D-4B05-B034-4D949A682C9A}"/>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E0FB5-AD91-45E1-BA04-184B541BCC0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Sample</a:t>
            </a:r>
          </a:p>
        </p:txBody>
      </p:sp>
      <p:sp>
        <p:nvSpPr>
          <p:cNvPr id="4" name="">
            <a:extLst xmlns:a="http://schemas.openxmlformats.org/drawingml/2006/main">
              <a:ext uri="{FF2B5EF4-FFF2-40B4-BE49-F238E27FC236}">
                <a16:creationId xmlns:a16="http://schemas.microsoft.com/office/drawing/2014/main" id="{9B1567EC-5A23-480A-A960-EEBB44E49A95}"/>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Medium-energy neutrino mode, about 6 GeV. 4.12 million selected events</a:t>
            </a:r>
          </a:p>
        </p:txBody>
      </p:sp>
      <p:sp>
        <p:nvSpPr>
          <p:cNvPr id="5" name="">
            <a:extLst xmlns:a="http://schemas.openxmlformats.org/drawingml/2006/main">
              <a:ext uri="{FF2B5EF4-FFF2-40B4-BE49-F238E27FC236}">
                <a16:creationId xmlns:a16="http://schemas.microsoft.com/office/drawing/2014/main" id="{5E5CCD0C-F13D-4629-A094-83361BBA5F20}"/>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96C24C-E054-4ED3-A792-0E982B709A73}"/>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Signal</a:t>
            </a:r>
          </a:p>
        </p:txBody>
      </p:sp>
      <p:sp>
        <p:nvSpPr>
          <p:cNvPr id="7" name="">
            <a:extLst xmlns:a="http://schemas.openxmlformats.org/drawingml/2006/main">
              <a:ext uri="{FF2B5EF4-FFF2-40B4-BE49-F238E27FC236}">
                <a16:creationId xmlns:a16="http://schemas.microsoft.com/office/drawing/2014/main" id="{10B30B28-2214-4DBC-91F7-EF2D4956F7D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Muon-neutrino charged-current interactions in the tracker</a:t>
            </a:r>
          </a:p>
        </p:txBody>
      </p:sp>
      <p:sp>
        <p:nvSpPr>
          <p:cNvPr id="8" name="">
            <a:extLst xmlns:a="http://schemas.openxmlformats.org/drawingml/2006/main">
              <a:ext uri="{FF2B5EF4-FFF2-40B4-BE49-F238E27FC236}">
                <a16:creationId xmlns:a16="http://schemas.microsoft.com/office/drawing/2014/main" id="{046B3E98-7876-46CD-8ABC-B7C132A4F2B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82430D-9EBC-44F1-8EC8-9758216657C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Reference domain</a:t>
            </a:r>
          </a:p>
        </p:txBody>
      </p:sp>
      <p:sp>
        <p:nvSpPr>
          <p:cNvPr id="10" name="">
            <a:extLst xmlns:a="http://schemas.openxmlformats.org/drawingml/2006/main">
              <a:ext uri="{FF2B5EF4-FFF2-40B4-BE49-F238E27FC236}">
                <a16:creationId xmlns:a16="http://schemas.microsoft.com/office/drawing/2014/main" id="{15FF0F62-BB69-4923-8B6B-6F0B4A2A424B}"/>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 angle &lt; 20°, 1.5 &lt; p∥ &lt; 60 GeV/c, pT &lt; 4.5 GeV/c</a:t>
            </a:r>
          </a:p>
        </p:txBody>
      </p:sp>
      <p:sp>
        <p:nvSpPr>
          <p:cNvPr id="11" name="">
            <a:extLst xmlns:a="http://schemas.openxmlformats.org/drawingml/2006/main">
              <a:ext uri="{FF2B5EF4-FFF2-40B4-BE49-F238E27FC236}">
                <a16:creationId xmlns:a16="http://schemas.microsoft.com/office/drawing/2014/main" id="{4DBBBDE1-4BF6-4781-B9DD-F13BD4E6A99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A32107-D959-450A-95A7-C5A0267760D4}"/>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Detector</a:t>
            </a:r>
          </a:p>
        </p:txBody>
      </p:sp>
      <p:sp>
        <p:nvSpPr>
          <p:cNvPr id="13" name="">
            <a:extLst xmlns:a="http://schemas.openxmlformats.org/drawingml/2006/main">
              <a:ext uri="{FF2B5EF4-FFF2-40B4-BE49-F238E27FC236}">
                <a16:creationId xmlns:a16="http://schemas.microsoft.com/office/drawing/2014/main" id="{E1B03C83-8ADF-40B3-A275-2BACA0C140F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MINERvA measures activity. Downstream MINOS measures the muon</a:t>
            </a:r>
          </a:p>
        </p:txBody>
      </p:sp>
      <p:sp>
        <p:nvSpPr>
          <p:cNvPr id="14" name="">
            <a:extLst xmlns:a="http://schemas.openxmlformats.org/drawingml/2006/main">
              <a:ext uri="{FF2B5EF4-FFF2-40B4-BE49-F238E27FC236}">
                <a16:creationId xmlns:a16="http://schemas.microsoft.com/office/drawing/2014/main" id="{50D75D6C-BBA0-4EFA-85ED-AE221F547B3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03</a:t>
            </a:r>
          </a:p>
        </p:txBody>
      </p:sp>
    </p:spTree>
    <p:extLst>
      <p:ext uri="{BB962C8B-B14F-4D97-AF65-F5344CB8AC3E}">
        <p14:creationId xmlns:p14="http://schemas.microsoft.com/office/powerpoint/2010/main" val="7893070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6A10F5-37EF-49E2-B5C5-763346DC0B3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OmniFold learns event weights in two spaces</a:t>
            </a:r>
          </a:p>
        </p:txBody>
      </p:sp>
      <p:sp>
        <p:nvSpPr>
          <p:cNvPr id="2" name="">
            <a:extLst xmlns:a="http://schemas.openxmlformats.org/drawingml/2006/main">
              <a:ext uri="{FF2B5EF4-FFF2-40B4-BE49-F238E27FC236}">
                <a16:creationId xmlns:a16="http://schemas.microsoft.com/office/drawing/2014/main" id="{067D3750-80BA-42C2-B25C-DC4C80673B2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A28EF2-E4DA-4E15-8030-63A8F30E147D}"/>
              </a:ext>
            </a:extLst>
          </p:cNvPr>
          <p:cNvSpPr>
            <a:spLocks xmlns:a="http://schemas.openxmlformats.org/drawingml/2006/main" noGrp="1"/>
          </p:cNvSpPr>
          <p:nvPr/>
        </p:nvSpPr>
        <p:spPr>
          <a:xfrm xmlns:a="http://schemas.openxmlformats.org/drawingml/2006/main">
            <a:off x="6286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09BA7079-7593-46EC-BFE7-23D78342A15C}"/>
              </a:ext>
            </a:extLst>
          </p:cNvPr>
          <p:cNvSpPr>
            <a:spLocks xmlns:a="http://schemas.openxmlformats.org/drawingml/2006/main" noGrp="1"/>
          </p:cNvSpPr>
          <p:nvPr/>
        </p:nvSpPr>
        <p:spPr>
          <a:xfrm xmlns:a="http://schemas.openxmlformats.org/drawingml/2006/main">
            <a:off x="6286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Detector space</a:t>
            </a:r>
          </a:p>
        </p:txBody>
      </p:sp>
      <p:sp>
        <p:nvSpPr>
          <p:cNvPr id="5" name="">
            <a:extLst xmlns:a="http://schemas.openxmlformats.org/drawingml/2006/main">
              <a:ext uri="{FF2B5EF4-FFF2-40B4-BE49-F238E27FC236}">
                <a16:creationId xmlns:a16="http://schemas.microsoft.com/office/drawing/2014/main" id="{E30AFC47-2468-43E5-B3B5-FE9631B34D02}"/>
              </a:ext>
            </a:extLst>
          </p:cNvPr>
          <p:cNvSpPr>
            <a:spLocks xmlns:a="http://schemas.openxmlformats.org/drawingml/2006/main" noGrp="1"/>
          </p:cNvSpPr>
          <p:nvPr/>
        </p:nvSpPr>
        <p:spPr>
          <a:xfrm xmlns:a="http://schemas.openxmlformats.org/drawingml/2006/main">
            <a:off x="6286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Compare data with reconstructed simulation</a:t>
            </a:r>
          </a:p>
        </p:txBody>
      </p:sp>
      <p:sp>
        <p:nvSpPr>
          <p:cNvPr id="6" name="">
            <a:extLst xmlns:a="http://schemas.openxmlformats.org/drawingml/2006/main">
              <a:ext uri="{FF2B5EF4-FFF2-40B4-BE49-F238E27FC236}">
                <a16:creationId xmlns:a16="http://schemas.microsoft.com/office/drawing/2014/main" id="{FD610BB5-0515-49A9-B31D-AB33F559F8FC}"/>
              </a:ext>
            </a:extLst>
          </p:cNvPr>
          <p:cNvSpPr>
            <a:spLocks xmlns:a="http://schemas.openxmlformats.org/drawingml/2006/main" noGrp="1"/>
          </p:cNvSpPr>
          <p:nvPr/>
        </p:nvSpPr>
        <p:spPr>
          <a:xfrm xmlns:a="http://schemas.openxmlformats.org/drawingml/2006/main">
            <a:off x="6286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Fit a weight for each simulated event</a:t>
            </a:r>
          </a:p>
        </p:txBody>
      </p:sp>
      <p:sp>
        <p:nvSpPr>
          <p:cNvPr id="7" name="">
            <a:extLst xmlns:a="http://schemas.openxmlformats.org/drawingml/2006/main">
              <a:ext uri="{FF2B5EF4-FFF2-40B4-BE49-F238E27FC236}">
                <a16:creationId xmlns:a16="http://schemas.microsoft.com/office/drawing/2014/main" id="{29B2C72F-815A-4675-A57D-D3E791AB0C87}"/>
              </a:ext>
            </a:extLst>
          </p:cNvPr>
          <p:cNvSpPr>
            <a:spLocks xmlns:a="http://schemas.openxmlformats.org/drawingml/2006/main" noGrp="1"/>
          </p:cNvSpPr>
          <p:nvPr/>
        </p:nvSpPr>
        <p:spPr>
          <a:xfrm xmlns:a="http://schemas.openxmlformats.org/drawingml/2006/main">
            <a:off x="396240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30D461-CD16-4B05-9445-ED2772B31FD6}"/>
              </a:ext>
            </a:extLst>
          </p:cNvPr>
          <p:cNvSpPr>
            <a:spLocks xmlns:a="http://schemas.openxmlformats.org/drawingml/2006/main" noGrp="1"/>
          </p:cNvSpPr>
          <p:nvPr/>
        </p:nvSpPr>
        <p:spPr>
          <a:xfrm xmlns:a="http://schemas.openxmlformats.org/drawingml/2006/main">
            <a:off x="434340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6E08096-6337-4C8D-867C-7D563C29838C}"/>
              </a:ext>
            </a:extLst>
          </p:cNvPr>
          <p:cNvSpPr>
            <a:spLocks xmlns:a="http://schemas.openxmlformats.org/drawingml/2006/main" noGrp="1"/>
          </p:cNvSpPr>
          <p:nvPr/>
        </p:nvSpPr>
        <p:spPr>
          <a:xfrm xmlns:a="http://schemas.openxmlformats.org/drawingml/2006/main">
            <a:off x="434340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Paired simulation</a:t>
            </a:r>
          </a:p>
        </p:txBody>
      </p:sp>
      <p:sp>
        <p:nvSpPr>
          <p:cNvPr id="10" name="">
            <a:extLst xmlns:a="http://schemas.openxmlformats.org/drawingml/2006/main">
              <a:ext uri="{FF2B5EF4-FFF2-40B4-BE49-F238E27FC236}">
                <a16:creationId xmlns:a16="http://schemas.microsoft.com/office/drawing/2014/main" id="{A5E62DAF-7002-459E-9191-8FF82A629502}"/>
              </a:ext>
            </a:extLst>
          </p:cNvPr>
          <p:cNvSpPr>
            <a:spLocks xmlns:a="http://schemas.openxmlformats.org/drawingml/2006/main" noGrp="1"/>
          </p:cNvSpPr>
          <p:nvPr/>
        </p:nvSpPr>
        <p:spPr>
          <a:xfrm xmlns:a="http://schemas.openxmlformats.org/drawingml/2006/main">
            <a:off x="434340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Carry that weight to its truth record</a:t>
            </a:r>
          </a:p>
        </p:txBody>
      </p:sp>
      <p:sp>
        <p:nvSpPr>
          <p:cNvPr id="11" name="">
            <a:extLst xmlns:a="http://schemas.openxmlformats.org/drawingml/2006/main">
              <a:ext uri="{FF2B5EF4-FFF2-40B4-BE49-F238E27FC236}">
                <a16:creationId xmlns:a16="http://schemas.microsoft.com/office/drawing/2014/main" id="{E421E688-7982-4981-8421-F3098344C703}"/>
              </a:ext>
            </a:extLst>
          </p:cNvPr>
          <p:cNvSpPr>
            <a:spLocks xmlns:a="http://schemas.openxmlformats.org/drawingml/2006/main" noGrp="1"/>
          </p:cNvSpPr>
          <p:nvPr/>
        </p:nvSpPr>
        <p:spPr>
          <a:xfrm xmlns:a="http://schemas.openxmlformats.org/drawingml/2006/main">
            <a:off x="434340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Estimate weights for missed events</a:t>
            </a:r>
          </a:p>
        </p:txBody>
      </p:sp>
      <p:sp>
        <p:nvSpPr>
          <p:cNvPr id="12" name="">
            <a:extLst xmlns:a="http://schemas.openxmlformats.org/drawingml/2006/main">
              <a:ext uri="{FF2B5EF4-FFF2-40B4-BE49-F238E27FC236}">
                <a16:creationId xmlns:a16="http://schemas.microsoft.com/office/drawing/2014/main" id="{CBFF705D-D175-4977-8FEC-2264EA2CDAFB}"/>
              </a:ext>
            </a:extLst>
          </p:cNvPr>
          <p:cNvSpPr>
            <a:spLocks xmlns:a="http://schemas.openxmlformats.org/drawingml/2006/main" noGrp="1"/>
          </p:cNvSpPr>
          <p:nvPr/>
        </p:nvSpPr>
        <p:spPr>
          <a:xfrm xmlns:a="http://schemas.openxmlformats.org/drawingml/2006/main">
            <a:off x="767715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7123EC-1C2F-405C-8631-67AB1FB9C072}"/>
              </a:ext>
            </a:extLst>
          </p:cNvPr>
          <p:cNvSpPr>
            <a:spLocks xmlns:a="http://schemas.openxmlformats.org/drawingml/2006/main" noGrp="1"/>
          </p:cNvSpPr>
          <p:nvPr/>
        </p:nvSpPr>
        <p:spPr>
          <a:xfrm xmlns:a="http://schemas.openxmlformats.org/drawingml/2006/main">
            <a:off x="80581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25EE326E-5EBD-4200-8183-89619E8AA74D}"/>
              </a:ext>
            </a:extLst>
          </p:cNvPr>
          <p:cNvSpPr>
            <a:spLocks xmlns:a="http://schemas.openxmlformats.org/drawingml/2006/main" noGrp="1"/>
          </p:cNvSpPr>
          <p:nvPr/>
        </p:nvSpPr>
        <p:spPr>
          <a:xfrm xmlns:a="http://schemas.openxmlformats.org/drawingml/2006/main">
            <a:off x="80581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Truth space</a:t>
            </a:r>
          </a:p>
        </p:txBody>
      </p:sp>
      <p:sp>
        <p:nvSpPr>
          <p:cNvPr id="15" name="">
            <a:extLst xmlns:a="http://schemas.openxmlformats.org/drawingml/2006/main">
              <a:ext uri="{FF2B5EF4-FFF2-40B4-BE49-F238E27FC236}">
                <a16:creationId xmlns:a16="http://schemas.microsoft.com/office/drawing/2014/main" id="{C3711891-24D6-4229-B686-F54247D94443}"/>
              </a:ext>
            </a:extLst>
          </p:cNvPr>
          <p:cNvSpPr>
            <a:spLocks xmlns:a="http://schemas.openxmlformats.org/drawingml/2006/main" noGrp="1"/>
          </p:cNvSpPr>
          <p:nvPr/>
        </p:nvSpPr>
        <p:spPr>
          <a:xfrm xmlns:a="http://schemas.openxmlformats.org/drawingml/2006/main">
            <a:off x="80581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Learn a smooth truth-level reweighting</a:t>
            </a:r>
          </a:p>
        </p:txBody>
      </p:sp>
      <p:sp>
        <p:nvSpPr>
          <p:cNvPr id="16" name="">
            <a:extLst xmlns:a="http://schemas.openxmlformats.org/drawingml/2006/main">
              <a:ext uri="{FF2B5EF4-FFF2-40B4-BE49-F238E27FC236}">
                <a16:creationId xmlns:a16="http://schemas.microsoft.com/office/drawing/2014/main" id="{9771F2F2-0724-4D0C-AEAD-69E208371240}"/>
              </a:ext>
            </a:extLst>
          </p:cNvPr>
          <p:cNvSpPr>
            <a:spLocks xmlns:a="http://schemas.openxmlformats.org/drawingml/2006/main" noGrp="1"/>
          </p:cNvSpPr>
          <p:nvPr/>
        </p:nvSpPr>
        <p:spPr>
          <a:xfrm xmlns:a="http://schemas.openxmlformats.org/drawingml/2006/main">
            <a:off x="80581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Repeat with the updated simulation</a:t>
            </a:r>
          </a:p>
        </p:txBody>
      </p:sp>
      <p:sp>
        <p:nvSpPr>
          <p:cNvPr id="17" name="">
            <a:extLst xmlns:a="http://schemas.openxmlformats.org/drawingml/2006/main">
              <a:ext uri="{FF2B5EF4-FFF2-40B4-BE49-F238E27FC236}">
                <a16:creationId xmlns:a16="http://schemas.microsoft.com/office/drawing/2014/main" id="{DB5282E3-252D-41B6-B99F-3A5E2410B51A}"/>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After five iterations, histogram the weighted truth events in the desired observables</a:t>
            </a:r>
          </a:p>
        </p:txBody>
      </p:sp>
      <p:sp>
        <p:nvSpPr>
          <p:cNvPr id="18" name="">
            <a:extLst xmlns:a="http://schemas.openxmlformats.org/drawingml/2006/main">
              <a:ext uri="{FF2B5EF4-FFF2-40B4-BE49-F238E27FC236}">
                <a16:creationId xmlns:a16="http://schemas.microsoft.com/office/drawing/2014/main" id="{8A402119-D9EC-441D-A40A-33F44CABCDAA}"/>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04</a:t>
            </a:r>
          </a:p>
        </p:txBody>
      </p:sp>
    </p:spTree>
    <p:extLst>
      <p:ext uri="{BB962C8B-B14F-4D97-AF65-F5344CB8AC3E}">
        <p14:creationId xmlns:p14="http://schemas.microsoft.com/office/powerpoint/2010/main" val="3247592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48A617-CA90-4D2B-A1F4-1105677D6C1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Three different tests of an unfolding result</a:t>
            </a:r>
          </a:p>
        </p:txBody>
      </p:sp>
      <p:sp>
        <p:nvSpPr>
          <p:cNvPr id="2" name="">
            <a:extLst xmlns:a="http://schemas.openxmlformats.org/drawingml/2006/main">
              <a:ext uri="{FF2B5EF4-FFF2-40B4-BE49-F238E27FC236}">
                <a16:creationId xmlns:a16="http://schemas.microsoft.com/office/drawing/2014/main" id="{4C7CA492-2A99-470E-9085-2DEDA3F5C53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C26647-9D7B-46BA-AEAA-700A6C20947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Closure</a:t>
            </a:r>
          </a:p>
        </p:txBody>
      </p:sp>
      <p:sp>
        <p:nvSpPr>
          <p:cNvPr id="4" name="">
            <a:extLst xmlns:a="http://schemas.openxmlformats.org/drawingml/2006/main">
              <a:ext uri="{FF2B5EF4-FFF2-40B4-BE49-F238E27FC236}">
                <a16:creationId xmlns:a16="http://schemas.microsoft.com/office/drawing/2014/main" id="{6B931AAC-B06D-4D8C-912D-1DAFDA266648}"/>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Create simulated data with known truth and test recovery</a:t>
            </a:r>
          </a:p>
        </p:txBody>
      </p:sp>
      <p:sp>
        <p:nvSpPr>
          <p:cNvPr id="5" name="">
            <a:extLst xmlns:a="http://schemas.openxmlformats.org/drawingml/2006/main">
              <a:ext uri="{FF2B5EF4-FFF2-40B4-BE49-F238E27FC236}">
                <a16:creationId xmlns:a16="http://schemas.microsoft.com/office/drawing/2014/main" id="{059FC10F-1B3E-4CB8-B9DD-AC5D31A8F410}"/>
              </a:ext>
            </a:extLst>
          </p:cNvPr>
          <p:cNvSpPr>
            <a:spLocks xmlns:a="http://schemas.openxmlformats.org/drawingml/2006/main" noGrp="1"/>
          </p:cNvSpPr>
          <p:nvPr/>
        </p:nvSpPr>
        <p:spPr>
          <a:xfrm xmlns:a="http://schemas.openxmlformats.org/drawingml/2006/main">
            <a:off x="628650" y="2781300"/>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C3D808-1232-483D-B05B-CF31E10A17B7}"/>
              </a:ext>
            </a:extLst>
          </p:cNvPr>
          <p:cNvSpPr>
            <a:spLocks xmlns:a="http://schemas.openxmlformats.org/drawingml/2006/main" noGrp="1"/>
          </p:cNvSpPr>
          <p:nvPr/>
        </p:nvSpPr>
        <p:spPr>
          <a:xfrm xmlns:a="http://schemas.openxmlformats.org/drawingml/2006/main">
            <a:off x="628650" y="292417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Dimensional anchor</a:t>
            </a:r>
          </a:p>
        </p:txBody>
      </p:sp>
      <p:sp>
        <p:nvSpPr>
          <p:cNvPr id="7" name="">
            <a:extLst xmlns:a="http://schemas.openxmlformats.org/drawingml/2006/main">
              <a:ext uri="{FF2B5EF4-FFF2-40B4-BE49-F238E27FC236}">
                <a16:creationId xmlns:a16="http://schemas.microsoft.com/office/drawing/2014/main" id="{82AE63DB-3045-409F-B184-47A2093CC81F}"/>
              </a:ext>
            </a:extLst>
          </p:cNvPr>
          <p:cNvSpPr>
            <a:spLocks xmlns:a="http://schemas.openxmlformats.org/drawingml/2006/main" noGrp="1"/>
          </p:cNvSpPr>
          <p:nvPr/>
        </p:nvSpPr>
        <p:spPr>
          <a:xfrm xmlns:a="http://schemas.openxmlformats.org/drawingml/2006/main">
            <a:off x="3762375" y="2924175"/>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Integrate an added observable and compare with the earlier result</a:t>
            </a:r>
          </a:p>
        </p:txBody>
      </p:sp>
      <p:sp>
        <p:nvSpPr>
          <p:cNvPr id="8" name="">
            <a:extLst xmlns:a="http://schemas.openxmlformats.org/drawingml/2006/main">
              <a:ext uri="{FF2B5EF4-FFF2-40B4-BE49-F238E27FC236}">
                <a16:creationId xmlns:a16="http://schemas.microsoft.com/office/drawing/2014/main" id="{9D202DBE-DC5F-4857-ABDC-B9DE7D0F3AC6}"/>
              </a:ext>
            </a:extLst>
          </p:cNvPr>
          <p:cNvSpPr>
            <a:spLocks xmlns:a="http://schemas.openxmlformats.org/drawingml/2006/main" noGrp="1"/>
          </p:cNvSpPr>
          <p:nvPr/>
        </p:nvSpPr>
        <p:spPr>
          <a:xfrm xmlns:a="http://schemas.openxmlformats.org/drawingml/2006/main">
            <a:off x="628650" y="4048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E7B576-B155-4E04-93AC-EED69C32C628}"/>
              </a:ext>
            </a:extLst>
          </p:cNvPr>
          <p:cNvSpPr>
            <a:spLocks xmlns:a="http://schemas.openxmlformats.org/drawingml/2006/main" noGrp="1"/>
          </p:cNvSpPr>
          <p:nvPr/>
        </p:nvSpPr>
        <p:spPr>
          <a:xfrm xmlns:a="http://schemas.openxmlformats.org/drawingml/2006/main">
            <a:off x="628650" y="4191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Coverage</a:t>
            </a:r>
          </a:p>
        </p:txBody>
      </p:sp>
      <p:sp>
        <p:nvSpPr>
          <p:cNvPr id="10" name="">
            <a:extLst xmlns:a="http://schemas.openxmlformats.org/drawingml/2006/main">
              <a:ext uri="{FF2B5EF4-FFF2-40B4-BE49-F238E27FC236}">
                <a16:creationId xmlns:a16="http://schemas.microsoft.com/office/drawing/2014/main" id="{46C5A590-6D5A-4455-AC71-B18B11DABA63}"/>
              </a:ext>
            </a:extLst>
          </p:cNvPr>
          <p:cNvSpPr>
            <a:spLocks xmlns:a="http://schemas.openxmlformats.org/drawingml/2006/main" noGrp="1"/>
          </p:cNvSpPr>
          <p:nvPr/>
        </p:nvSpPr>
        <p:spPr>
          <a:xfrm xmlns:a="http://schemas.openxmlformats.org/drawingml/2006/main">
            <a:off x="3762375" y="4191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Repeat simulated experiments and count how often intervals contain truth</a:t>
            </a:r>
          </a:p>
        </p:txBody>
      </p:sp>
      <p:sp>
        <p:nvSpPr>
          <p:cNvPr id="11" name="">
            <a:extLst xmlns:a="http://schemas.openxmlformats.org/drawingml/2006/main">
              <a:ext uri="{FF2B5EF4-FFF2-40B4-BE49-F238E27FC236}">
                <a16:creationId xmlns:a16="http://schemas.microsoft.com/office/drawing/2014/main" id="{134C4092-AE16-4D14-834D-3F59FE07F303}"/>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A closure pass applies to the tested deformation and detector response</a:t>
            </a:r>
          </a:p>
        </p:txBody>
      </p:sp>
      <p:sp>
        <p:nvSpPr>
          <p:cNvPr id="12" name="">
            <a:extLst xmlns:a="http://schemas.openxmlformats.org/drawingml/2006/main">
              <a:ext uri="{FF2B5EF4-FFF2-40B4-BE49-F238E27FC236}">
                <a16:creationId xmlns:a16="http://schemas.microsoft.com/office/drawing/2014/main" id="{F8B8E059-AB4D-4374-8993-1DF031C817E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05</a:t>
            </a:r>
          </a:p>
        </p:txBody>
      </p:sp>
    </p:spTree>
    <p:extLst>
      <p:ext uri="{BB962C8B-B14F-4D97-AF65-F5344CB8AC3E}">
        <p14:creationId xmlns:p14="http://schemas.microsoft.com/office/powerpoint/2010/main" val="17621574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EB2590-325D-4F0F-9E83-4DB65186E6D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cross section reproduces the published scale</a:t>
            </a:r>
          </a:p>
        </p:txBody>
      </p:sp>
      <p:sp>
        <p:nvSpPr>
          <p:cNvPr id="2" name="">
            <a:extLst xmlns:a="http://schemas.openxmlformats.org/drawingml/2006/main">
              <a:ext uri="{FF2B5EF4-FFF2-40B4-BE49-F238E27FC236}">
                <a16:creationId xmlns:a16="http://schemas.microsoft.com/office/drawing/2014/main" id="{A017E06F-2B19-4A0A-9575-4BE14AFB094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A6C928C-5F57-4130-8436-A7272FC58F41}"/>
              </a:ext>
            </a:extLst>
          </p:cNvPr>
          <p:cNvPicPr>
            <a:picLocks xmlns:a="http://schemas.openxmlformats.org/drawingml/2006/main" noChangeAspect="1"/>
          </p:cNvPicPr>
          <p:nvPr/>
        </p:nvPicPr>
        <p:blipFill>
          <a:blip xmlns:r="http://schemas.openxmlformats.org/officeDocument/2006/relationships" xmlns:a="http://schemas.openxmlformats.org/drawingml/2006/main" r:embed="Rd6f6b941a3a44845"/>
          <a:stretch xmlns:a="http://schemas.openxmlformats.org/drawingml/2006/main"/>
        </p:blipFill>
        <p:spPr>
          <a:xfrm xmlns:a="http://schemas.openxmlformats.org/drawingml/2006/main">
            <a:off x="1904253" y="1571625"/>
            <a:ext cx="443061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D4D2EF-2717-4B15-B7B4-F9D5C8ADE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3.073 × 10⁻³⁸ cm²/nucleon</a:t>
            </a:r>
          </a:p>
        </p:txBody>
      </p:sp>
      <p:sp>
        <p:nvSpPr>
          <p:cNvPr id="5" name="">
            <a:extLst xmlns:a="http://schemas.openxmlformats.org/drawingml/2006/main">
              <a:ext uri="{FF2B5EF4-FFF2-40B4-BE49-F238E27FC236}">
                <a16:creationId xmlns:a16="http://schemas.microsoft.com/office/drawing/2014/main" id="{B8F6925C-F9B4-435E-A68A-B5A99F9F0010}"/>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1.11% above the published total</a:t>
            </a:r>
          </a:p>
        </p:txBody>
      </p:sp>
      <p:sp>
        <p:nvSpPr>
          <p:cNvPr id="6" name="">
            <a:extLst xmlns:a="http://schemas.openxmlformats.org/drawingml/2006/main">
              <a:ext uri="{FF2B5EF4-FFF2-40B4-BE49-F238E27FC236}">
                <a16:creationId xmlns:a16="http://schemas.microsoft.com/office/drawing/2014/main" id="{DDD6BB6B-1B84-4A1A-9CB9-15B4D9F98DC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205 reported bins. Five iterations</a:t>
            </a:r>
          </a:p>
        </p:txBody>
      </p:sp>
      <p:sp>
        <p:nvSpPr>
          <p:cNvPr id="7" name="">
            <a:extLst xmlns:a="http://schemas.openxmlformats.org/drawingml/2006/main">
              <a:ext uri="{FF2B5EF4-FFF2-40B4-BE49-F238E27FC236}">
                <a16:creationId xmlns:a16="http://schemas.microsoft.com/office/drawing/2014/main" id="{E58F17DD-AED1-4496-A512-DD306553F136}"/>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Same data and shared systematics</a:t>
            </a:r>
          </a:p>
        </p:txBody>
      </p:sp>
      <p:sp>
        <p:nvSpPr>
          <p:cNvPr id="8" name="">
            <a:extLst xmlns:a="http://schemas.openxmlformats.org/drawingml/2006/main">
              <a:ext uri="{FF2B5EF4-FFF2-40B4-BE49-F238E27FC236}">
                <a16:creationId xmlns:a16="http://schemas.microsoft.com/office/drawing/2014/main" id="{5C4187D1-99C9-44EB-A568-5D6B38F6AB24}"/>
              </a:ext>
            </a:extLst>
          </p:cNvPr>
          <p:cNvSpPr>
            <a:spLocks xmlns:a="http://schemas.openxmlformats.org/drawingml/2006/main" noGrp="1"/>
          </p:cNvSpPr>
          <p:nvPr/>
        </p:nvSpPr>
        <p:spPr>
          <a:xfrm xmlns:a="http://schemas.openxmlformats.org/drawingml/2006/main">
            <a:off x="647700" y="5810250"/>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06474"/>
                </a:solidFill>
                <a:latin typeface="Helvetica Neue"/>
                <a:ea typeface="Helvetica Neue"/>
                <a:cs typeface="Helvetica Neue"/>
              </a:defRPr>
            </a:defPPr>
          </a:lstStyle>
          <a:p xmlns:a="http://schemas.openxmlformats.org/drawingml/2006/main">
            <a:pPr>
              <a:defRPr sz="1275" b="0">
                <a:solidFill>
                  <a:srgbClr val="506474"/>
                </a:solidFill>
                <a:latin typeface="Helvetica Neue"/>
                <a:ea typeface="Helvetica Neue"/>
                <a:cs typeface="Helvetica Neue"/>
              </a:defRPr>
            </a:pPr>
            <a:r>
              <a:rPr sz="1275" b="0">
                <a:solidFill>
                  <a:srgbClr val="506474"/>
                </a:solidFill>
                <a:latin typeface="Helvetica Neue"/>
                <a:ea typeface="Helvetica Neue"/>
                <a:cs typeface="Helvetica Neue"/>
              </a:rPr>
              <a:t>Black: published     Red dashed: OmniFold     Blue: tuned prior</a:t>
            </a:r>
          </a:p>
        </p:txBody>
      </p:sp>
      <p:sp>
        <p:nvSpPr>
          <p:cNvPr id="9" name="">
            <a:extLst xmlns:a="http://schemas.openxmlformats.org/drawingml/2006/main">
              <a:ext uri="{FF2B5EF4-FFF2-40B4-BE49-F238E27FC236}">
                <a16:creationId xmlns:a16="http://schemas.microsoft.com/office/drawing/2014/main" id="{DAE01DB9-4285-48B7-A875-7B0445B2D6E8}"/>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Projection of the validated 2D central result. This is a reproduction, not an independent measurement</a:t>
            </a:r>
          </a:p>
        </p:txBody>
      </p:sp>
      <p:sp>
        <p:nvSpPr>
          <p:cNvPr id="10" name="">
            <a:extLst xmlns:a="http://schemas.openxmlformats.org/drawingml/2006/main">
              <a:ext uri="{FF2B5EF4-FFF2-40B4-BE49-F238E27FC236}">
                <a16:creationId xmlns:a16="http://schemas.microsoft.com/office/drawing/2014/main" id="{70FA1EF0-1B0C-47FA-911D-85C83BD0A58C}"/>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06</a:t>
            </a:r>
          </a:p>
        </p:txBody>
      </p:sp>
    </p:spTree>
    <p:extLst>
      <p:ext uri="{BB962C8B-B14F-4D97-AF65-F5344CB8AC3E}">
        <p14:creationId xmlns:p14="http://schemas.microsoft.com/office/powerpoint/2010/main" val="21147617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01CF434-8157-4AD7-96D3-C7586B45367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2D controls test recovery and bookkeeping</a:t>
            </a:r>
          </a:p>
        </p:txBody>
      </p:sp>
      <p:sp>
        <p:nvSpPr>
          <p:cNvPr id="2" name="">
            <a:extLst xmlns:a="http://schemas.openxmlformats.org/drawingml/2006/main">
              <a:ext uri="{FF2B5EF4-FFF2-40B4-BE49-F238E27FC236}">
                <a16:creationId xmlns:a16="http://schemas.microsoft.com/office/drawing/2014/main" id="{74FF68DF-049E-4E25-A474-5B7422D5D486}"/>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2B8029-1900-49A0-8372-A4DC636E48D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Injected shapes</a:t>
            </a:r>
          </a:p>
        </p:txBody>
      </p:sp>
      <p:sp>
        <p:nvSpPr>
          <p:cNvPr id="4" name="">
            <a:extLst xmlns:a="http://schemas.openxmlformats.org/drawingml/2006/main">
              <a:ext uri="{FF2B5EF4-FFF2-40B4-BE49-F238E27FC236}">
                <a16:creationId xmlns:a16="http://schemas.microsoft.com/office/drawing/2014/main" id="{010E119E-8DF1-43C5-B346-88D9C6E825D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Truth reweights and alternative-universe tests pass their declared thresholds</a:t>
            </a:r>
          </a:p>
        </p:txBody>
      </p:sp>
      <p:sp>
        <p:nvSpPr>
          <p:cNvPr id="5" name="">
            <a:extLst xmlns:a="http://schemas.openxmlformats.org/drawingml/2006/main">
              <a:ext uri="{FF2B5EF4-FFF2-40B4-BE49-F238E27FC236}">
                <a16:creationId xmlns:a16="http://schemas.microsoft.com/office/drawing/2014/main" id="{1FA7D10C-3AB3-465C-904A-2BD81A588A3D}"/>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ACCF85-33F8-449B-B403-403A51F3014D}"/>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Missed events</a:t>
            </a:r>
          </a:p>
        </p:txBody>
      </p:sp>
      <p:sp>
        <p:nvSpPr>
          <p:cNvPr id="7" name="">
            <a:extLst xmlns:a="http://schemas.openxmlformats.org/drawingml/2006/main">
              <a:ext uri="{FF2B5EF4-FFF2-40B4-BE49-F238E27FC236}">
                <a16:creationId xmlns:a16="http://schemas.microsoft.com/office/drawing/2014/main" id="{3CF2FC87-D29A-40D5-A1FC-96C0FFB63E55}"/>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Truth records define the full signal denominator</a:t>
            </a:r>
          </a:p>
        </p:txBody>
      </p:sp>
      <p:sp>
        <p:nvSpPr>
          <p:cNvPr id="8" name="">
            <a:extLst xmlns:a="http://schemas.openxmlformats.org/drawingml/2006/main">
              <a:ext uri="{FF2B5EF4-FFF2-40B4-BE49-F238E27FC236}">
                <a16:creationId xmlns:a16="http://schemas.microsoft.com/office/drawing/2014/main" id="{A2F07157-1C6A-4C55-84E3-5D1A16CF1551}"/>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3A24079-6953-412D-A4F7-C4169B2A624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Iteration controls</a:t>
            </a:r>
          </a:p>
        </p:txBody>
      </p:sp>
      <p:sp>
        <p:nvSpPr>
          <p:cNvPr id="10" name="">
            <a:extLst xmlns:a="http://schemas.openxmlformats.org/drawingml/2006/main">
              <a:ext uri="{FF2B5EF4-FFF2-40B4-BE49-F238E27FC236}">
                <a16:creationId xmlns:a16="http://schemas.microsoft.com/office/drawing/2014/main" id="{B8A2C7FA-E559-4304-BF1B-4D238EB52852}"/>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Five iterations form the frozen production choice</a:t>
            </a:r>
          </a:p>
        </p:txBody>
      </p:sp>
      <p:sp>
        <p:nvSpPr>
          <p:cNvPr id="11" name="">
            <a:extLst xmlns:a="http://schemas.openxmlformats.org/drawingml/2006/main">
              <a:ext uri="{FF2B5EF4-FFF2-40B4-BE49-F238E27FC236}">
                <a16:creationId xmlns:a16="http://schemas.microsoft.com/office/drawing/2014/main" id="{E610084A-521D-446D-94B1-B41C40562C1F}"/>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2A5A66-120E-43B7-82A7-85DF127400D0}"/>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Known limit</a:t>
            </a:r>
          </a:p>
        </p:txBody>
      </p:sp>
      <p:sp>
        <p:nvSpPr>
          <p:cNvPr id="13" name="">
            <a:extLst xmlns:a="http://schemas.openxmlformats.org/drawingml/2006/main">
              <a:ext uri="{FF2B5EF4-FFF2-40B4-BE49-F238E27FC236}">
                <a16:creationId xmlns:a16="http://schemas.microsoft.com/office/drawing/2014/main" id="{87F44667-8299-4B63-83BE-0A778D841EBC}"/>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 large hidden response deformation exceeds the closure threshold</a:t>
            </a:r>
          </a:p>
        </p:txBody>
      </p:sp>
      <p:sp>
        <p:nvSpPr>
          <p:cNvPr id="14" name="">
            <a:extLst xmlns:a="http://schemas.openxmlformats.org/drawingml/2006/main">
              <a:ext uri="{FF2B5EF4-FFF2-40B4-BE49-F238E27FC236}">
                <a16:creationId xmlns:a16="http://schemas.microsoft.com/office/drawing/2014/main" id="{B12E3032-E511-43AC-B6AA-C02252739C55}"/>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07</a:t>
            </a:r>
          </a:p>
        </p:txBody>
      </p:sp>
    </p:spTree>
    <p:extLst>
      <p:ext uri="{BB962C8B-B14F-4D97-AF65-F5344CB8AC3E}">
        <p14:creationId xmlns:p14="http://schemas.microsoft.com/office/powerpoint/2010/main" val="14466940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5F0C35-98BC-4055-A43E-5DFDCEBB6D48}"/>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rebuilt uncertainty recipe still needs a coverage test</a:t>
            </a:r>
          </a:p>
        </p:txBody>
      </p:sp>
      <p:sp>
        <p:nvSpPr>
          <p:cNvPr id="2" name="">
            <a:extLst xmlns:a="http://schemas.openxmlformats.org/drawingml/2006/main">
              <a:ext uri="{FF2B5EF4-FFF2-40B4-BE49-F238E27FC236}">
                <a16:creationId xmlns:a16="http://schemas.microsoft.com/office/drawing/2014/main" id="{1344A3EE-138C-4A9D-AC0D-196D373EA453}"/>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9A3317-DBC1-42EF-AD37-7793B8B7BD39}"/>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Construction</a:t>
            </a:r>
          </a:p>
        </p:txBody>
      </p:sp>
      <p:sp>
        <p:nvSpPr>
          <p:cNvPr id="4" name="">
            <a:extLst xmlns:a="http://schemas.openxmlformats.org/drawingml/2006/main">
              <a:ext uri="{FF2B5EF4-FFF2-40B4-BE49-F238E27FC236}">
                <a16:creationId xmlns:a16="http://schemas.microsoft.com/office/drawing/2014/main" id="{AE3DF1DC-CB83-49A8-A840-68E1594EAA45}"/>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187 systematic universes + statistics + training variation</a:t>
            </a:r>
          </a:p>
        </p:txBody>
      </p:sp>
      <p:sp>
        <p:nvSpPr>
          <p:cNvPr id="5" name="">
            <a:extLst xmlns:a="http://schemas.openxmlformats.org/drawingml/2006/main">
              <a:ext uri="{FF2B5EF4-FFF2-40B4-BE49-F238E27FC236}">
                <a16:creationId xmlns:a16="http://schemas.microsoft.com/office/drawing/2014/main" id="{8933DF6B-0122-4DEA-8783-C0435D5E090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E0E1A0-00A0-46B9-AB1E-8FD6E7363FB0}"/>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Current budget</a:t>
            </a:r>
          </a:p>
        </p:txBody>
      </p:sp>
      <p:sp>
        <p:nvSpPr>
          <p:cNvPr id="7" name="">
            <a:extLst xmlns:a="http://schemas.openxmlformats.org/drawingml/2006/main">
              <a:ext uri="{FF2B5EF4-FFF2-40B4-BE49-F238E27FC236}">
                <a16:creationId xmlns:a16="http://schemas.microsoft.com/office/drawing/2014/main" id="{01AA13A2-8AA2-44A2-93D3-638D1CE474C9}"/>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6.87% median relative uncertainty per reported bin</a:t>
            </a:r>
          </a:p>
        </p:txBody>
      </p:sp>
      <p:sp>
        <p:nvSpPr>
          <p:cNvPr id="8" name="">
            <a:extLst xmlns:a="http://schemas.openxmlformats.org/drawingml/2006/main">
              <a:ext uri="{FF2B5EF4-FFF2-40B4-BE49-F238E27FC236}">
                <a16:creationId xmlns:a16="http://schemas.microsoft.com/office/drawing/2014/main" id="{BE407E82-31AF-4124-855C-71B5425A8DC7}"/>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AF2358-E059-44DF-B42A-80BC21F5E7C0}"/>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Old statistical band</a:t>
            </a:r>
          </a:p>
        </p:txBody>
      </p:sp>
      <p:sp>
        <p:nvSpPr>
          <p:cNvPr id="10" name="">
            <a:extLst xmlns:a="http://schemas.openxmlformats.org/drawingml/2006/main">
              <a:ext uri="{FF2B5EF4-FFF2-40B4-BE49-F238E27FC236}">
                <a16:creationId xmlns:a16="http://schemas.microsoft.com/office/drawing/2014/main" id="{C3234035-53EC-446A-8EC6-363A5CA49DED}"/>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Two-standard-deviation containment: 91.21%. Failed its window</a:t>
            </a:r>
          </a:p>
        </p:txBody>
      </p:sp>
      <p:sp>
        <p:nvSpPr>
          <p:cNvPr id="11" name="">
            <a:extLst xmlns:a="http://schemas.openxmlformats.org/drawingml/2006/main">
              <a:ext uri="{FF2B5EF4-FFF2-40B4-BE49-F238E27FC236}">
                <a16:creationId xmlns:a16="http://schemas.microsoft.com/office/drawing/2014/main" id="{37AA74C8-7F80-41BB-996F-12106C4C7BE0}"/>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05DAFA-7D21-4716-9AFD-BF3B6E4CC563}"/>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Repair</a:t>
            </a:r>
          </a:p>
        </p:txBody>
      </p:sp>
      <p:sp>
        <p:nvSpPr>
          <p:cNvPr id="13" name="">
            <a:extLst xmlns:a="http://schemas.openxmlformats.org/drawingml/2006/main">
              <a:ext uri="{FF2B5EF4-FFF2-40B4-BE49-F238E27FC236}">
                <a16:creationId xmlns:a16="http://schemas.microsoft.com/office/drawing/2014/main" id="{696F2AE7-6720-4A12-8672-B317937622E5}"/>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Adopted VL170 band, rebuilt in VL172. Coverage not re-tested</a:t>
            </a:r>
          </a:p>
        </p:txBody>
      </p:sp>
      <p:sp>
        <p:nvSpPr>
          <p:cNvPr id="14" name="">
            <a:extLst xmlns:a="http://schemas.openxmlformats.org/drawingml/2006/main">
              <a:ext uri="{FF2B5EF4-FFF2-40B4-BE49-F238E27FC236}">
                <a16:creationId xmlns:a16="http://schemas.microsoft.com/office/drawing/2014/main" id="{8DB9CDD6-8C16-4F57-97B5-E7B4D8368F69}"/>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The 6.87% is a median bin uncertainty, not the uncertainty on the integrated cross section</a:t>
            </a:r>
          </a:p>
        </p:txBody>
      </p:sp>
      <p:sp>
        <p:nvSpPr>
          <p:cNvPr id="15" name="">
            <a:extLst xmlns:a="http://schemas.openxmlformats.org/drawingml/2006/main">
              <a:ext uri="{FF2B5EF4-FFF2-40B4-BE49-F238E27FC236}">
                <a16:creationId xmlns:a16="http://schemas.microsoft.com/office/drawing/2014/main" id="{FB502C99-3BEA-4339-9672-F9B4ECCFFFB2}"/>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08</a:t>
            </a:r>
          </a:p>
        </p:txBody>
      </p:sp>
    </p:spTree>
    <p:extLst>
      <p:ext uri="{BB962C8B-B14F-4D97-AF65-F5344CB8AC3E}">
        <p14:creationId xmlns:p14="http://schemas.microsoft.com/office/powerpoint/2010/main" val="1688527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0EDCCE-4C0D-4BB2-8890-1733B0F1094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Each added observable asks a physics question</a:t>
            </a:r>
          </a:p>
        </p:txBody>
      </p:sp>
      <p:sp>
        <p:nvSpPr>
          <p:cNvPr id="2" name="">
            <a:extLst xmlns:a="http://schemas.openxmlformats.org/drawingml/2006/main">
              <a:ext uri="{FF2B5EF4-FFF2-40B4-BE49-F238E27FC236}">
                <a16:creationId xmlns:a16="http://schemas.microsoft.com/office/drawing/2014/main" id="{21099507-2CEB-425E-B130-CAD0C0EB805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0D4A20-A5A7-4C0A-BDAC-7DF537CCAF1C}"/>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2D: pT, p∥</a:t>
            </a:r>
          </a:p>
        </p:txBody>
      </p:sp>
      <p:sp>
        <p:nvSpPr>
          <p:cNvPr id="4" name="">
            <a:extLst xmlns:a="http://schemas.openxmlformats.org/drawingml/2006/main">
              <a:ext uri="{FF2B5EF4-FFF2-40B4-BE49-F238E27FC236}">
                <a16:creationId xmlns:a16="http://schemas.microsoft.com/office/drawing/2014/main" id="{3CA14D3E-94D1-4690-94DE-B65F546046B7}"/>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Muon kinematics anchor the published measurement</a:t>
            </a:r>
          </a:p>
        </p:txBody>
      </p:sp>
      <p:sp>
        <p:nvSpPr>
          <p:cNvPr id="5" name="">
            <a:extLst xmlns:a="http://schemas.openxmlformats.org/drawingml/2006/main">
              <a:ext uri="{FF2B5EF4-FFF2-40B4-BE49-F238E27FC236}">
                <a16:creationId xmlns:a16="http://schemas.microsoft.com/office/drawing/2014/main" id="{F726ADC8-613C-4C45-A172-545B83E05DA7}"/>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C509C1-113F-43E7-9139-AA640A00F2DB}"/>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add Eavail</a:t>
            </a:r>
          </a:p>
        </p:txBody>
      </p:sp>
      <p:sp>
        <p:nvSpPr>
          <p:cNvPr id="7" name="">
            <a:extLst xmlns:a="http://schemas.openxmlformats.org/drawingml/2006/main">
              <a:ext uri="{FF2B5EF4-FFF2-40B4-BE49-F238E27FC236}">
                <a16:creationId xmlns:a16="http://schemas.microsoft.com/office/drawing/2014/main" id="{9827B62D-514D-47EA-980F-8A29BD74395E}"/>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Visible hadronic energy resolves recoil structure</a:t>
            </a:r>
          </a:p>
        </p:txBody>
      </p:sp>
      <p:sp>
        <p:nvSpPr>
          <p:cNvPr id="8" name="">
            <a:extLst xmlns:a="http://schemas.openxmlformats.org/drawingml/2006/main">
              <a:ext uri="{FF2B5EF4-FFF2-40B4-BE49-F238E27FC236}">
                <a16:creationId xmlns:a16="http://schemas.microsoft.com/office/drawing/2014/main" id="{DE503609-FE84-44F5-8C7E-8C3E5728B16C}"/>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48322F-4565-4989-BC0E-41B347A569E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4D: add q3</a:t>
            </a:r>
          </a:p>
        </p:txBody>
      </p:sp>
      <p:sp>
        <p:nvSpPr>
          <p:cNvPr id="10" name="">
            <a:extLst xmlns:a="http://schemas.openxmlformats.org/drawingml/2006/main">
              <a:ext uri="{FF2B5EF4-FFF2-40B4-BE49-F238E27FC236}">
                <a16:creationId xmlns:a16="http://schemas.microsoft.com/office/drawing/2014/main" id="{C52C0407-3CBB-4F9B-ADCC-B8BC404CF977}"/>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Magnitude of momentum transfer adds interaction information</a:t>
            </a:r>
          </a:p>
        </p:txBody>
      </p:sp>
      <p:sp>
        <p:nvSpPr>
          <p:cNvPr id="11" name="">
            <a:extLst xmlns:a="http://schemas.openxmlformats.org/drawingml/2006/main">
              <a:ext uri="{FF2B5EF4-FFF2-40B4-BE49-F238E27FC236}">
                <a16:creationId xmlns:a16="http://schemas.microsoft.com/office/drawing/2014/main" id="{42A487AA-EB3E-4C24-9BC2-9227B96AE973}"/>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4449C53-4C1C-4BEC-8AE0-D6C53411E4F9}"/>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5D: add W</a:t>
            </a:r>
          </a:p>
        </p:txBody>
      </p:sp>
      <p:sp>
        <p:nvSpPr>
          <p:cNvPr id="13" name="">
            <a:extLst xmlns:a="http://schemas.openxmlformats.org/drawingml/2006/main">
              <a:ext uri="{FF2B5EF4-FFF2-40B4-BE49-F238E27FC236}">
                <a16:creationId xmlns:a16="http://schemas.microsoft.com/office/drawing/2014/main" id="{9021F144-2221-4433-9466-53C7BE9AB48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An inferred hadronic mass separates regions of the spectrum</a:t>
            </a:r>
          </a:p>
        </p:txBody>
      </p:sp>
      <p:sp>
        <p:nvSpPr>
          <p:cNvPr id="14" name="">
            <a:extLst xmlns:a="http://schemas.openxmlformats.org/drawingml/2006/main">
              <a:ext uri="{FF2B5EF4-FFF2-40B4-BE49-F238E27FC236}">
                <a16:creationId xmlns:a16="http://schemas.microsoft.com/office/drawing/2014/main" id="{1D3783E1-D310-422C-8BDE-363D4C8A30AA}"/>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“5D” counts recorded observables. It does not imply five independent degrees of freedom</a:t>
            </a:r>
          </a:p>
        </p:txBody>
      </p:sp>
      <p:sp>
        <p:nvSpPr>
          <p:cNvPr id="15" name="">
            <a:extLst xmlns:a="http://schemas.openxmlformats.org/drawingml/2006/main">
              <a:ext uri="{FF2B5EF4-FFF2-40B4-BE49-F238E27FC236}">
                <a16:creationId xmlns:a16="http://schemas.microsoft.com/office/drawing/2014/main" id="{223EDB1C-6F67-445A-8635-132ABF0DB3B4}"/>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09</a:t>
            </a:r>
          </a:p>
        </p:txBody>
      </p:sp>
    </p:spTree>
    <p:extLst>
      <p:ext uri="{BB962C8B-B14F-4D97-AF65-F5344CB8AC3E}">
        <p14:creationId xmlns:p14="http://schemas.microsoft.com/office/powerpoint/2010/main" val="16198795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251591-97DE-4EC1-A8D7-94975708B29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Hadronic energy reveals model differences</a:t>
            </a:r>
          </a:p>
        </p:txBody>
      </p:sp>
      <p:sp>
        <p:nvSpPr>
          <p:cNvPr id="2" name="">
            <a:extLst xmlns:a="http://schemas.openxmlformats.org/drawingml/2006/main">
              <a:ext uri="{FF2B5EF4-FFF2-40B4-BE49-F238E27FC236}">
                <a16:creationId xmlns:a16="http://schemas.microsoft.com/office/drawing/2014/main" id="{C4927BEA-4836-4C54-A710-14F209E810B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E4FC1BD-E010-4793-95BD-9BC41EBC9347}"/>
              </a:ext>
            </a:extLst>
          </p:cNvPr>
          <p:cNvPicPr>
            <a:picLocks xmlns:a="http://schemas.openxmlformats.org/drawingml/2006/main" noChangeAspect="1"/>
          </p:cNvPicPr>
          <p:nvPr/>
        </p:nvPicPr>
        <p:blipFill>
          <a:blip xmlns:r="http://schemas.openxmlformats.org/officeDocument/2006/relationships" xmlns:a="http://schemas.openxmlformats.org/drawingml/2006/main" r:embed="R787c95bc40be4250"/>
          <a:stretch xmlns:a="http://schemas.openxmlformats.org/drawingml/2006/main"/>
        </p:blipFill>
        <p:spPr>
          <a:xfrm xmlns:a="http://schemas.openxmlformats.org/drawingml/2006/main">
            <a:off x="1743364" y="1571625"/>
            <a:ext cx="4752398"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7C0445-7017-43B1-9032-04E728E49452}"/>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3D normalization anchors to 2D</a:t>
            </a:r>
          </a:p>
        </p:txBody>
      </p:sp>
      <p:sp>
        <p:nvSpPr>
          <p:cNvPr id="5" name="">
            <a:extLst xmlns:a="http://schemas.openxmlformats.org/drawingml/2006/main">
              <a:ext uri="{FF2B5EF4-FFF2-40B4-BE49-F238E27FC236}">
                <a16:creationId xmlns:a16="http://schemas.microsoft.com/office/drawing/2014/main" id="{17716711-1739-4C07-A889-30049CF6811B}"/>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tested Eavail injection closes</a:t>
            </a:r>
          </a:p>
        </p:txBody>
      </p:sp>
      <p:sp>
        <p:nvSpPr>
          <p:cNvPr id="6" name="">
            <a:extLst xmlns:a="http://schemas.openxmlformats.org/drawingml/2006/main">
              <a:ext uri="{FF2B5EF4-FFF2-40B4-BE49-F238E27FC236}">
                <a16:creationId xmlns:a16="http://schemas.microsoft.com/office/drawing/2014/main" id="{877A5388-05EB-4C2D-9DDC-295E5571437D}"/>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Valencia 2p2h fills 52% of the gap at Eavail ≤ 0.4 GeV</a:t>
            </a:r>
          </a:p>
        </p:txBody>
      </p:sp>
      <p:sp>
        <p:nvSpPr>
          <p:cNvPr id="7" name="">
            <a:extLst xmlns:a="http://schemas.openxmlformats.org/drawingml/2006/main">
              <a:ext uri="{FF2B5EF4-FFF2-40B4-BE49-F238E27FC236}">
                <a16:creationId xmlns:a16="http://schemas.microsoft.com/office/drawing/2014/main" id="{7C08059F-7148-4590-9A0F-31509F725A34}"/>
              </a:ext>
            </a:extLst>
          </p:cNvPr>
          <p:cNvSpPr>
            <a:spLocks xmlns:a="http://schemas.openxmlformats.org/drawingml/2006/main" noGrp="1"/>
          </p:cNvSpPr>
          <p:nvPr/>
        </p:nvSpPr>
        <p:spPr>
          <a:xfrm xmlns:a="http://schemas.openxmlformats.org/drawingml/2006/main">
            <a:off x="8020050" y="486727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Central-value comparison only</a:t>
            </a:r>
          </a:p>
        </p:txBody>
      </p:sp>
      <p:sp>
        <p:nvSpPr>
          <p:cNvPr id="8" name="">
            <a:extLst xmlns:a="http://schemas.openxmlformats.org/drawingml/2006/main">
              <a:ext uri="{FF2B5EF4-FFF2-40B4-BE49-F238E27FC236}">
                <a16:creationId xmlns:a16="http://schemas.microsoft.com/office/drawing/2014/main" id="{0191491C-CE09-4A41-8708-4DAB1CB0F87E}"/>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Generator predictions use repaired samples. Historical covariance significances stay unquoted</a:t>
            </a:r>
          </a:p>
        </p:txBody>
      </p:sp>
      <p:sp>
        <p:nvSpPr>
          <p:cNvPr id="9" name="">
            <a:extLst xmlns:a="http://schemas.openxmlformats.org/drawingml/2006/main">
              <a:ext uri="{FF2B5EF4-FFF2-40B4-BE49-F238E27FC236}">
                <a16:creationId xmlns:a16="http://schemas.microsoft.com/office/drawing/2014/main" id="{C95649F0-1D56-4151-A5D7-A39607C8216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10</a:t>
            </a:r>
          </a:p>
        </p:txBody>
      </p:sp>
    </p:spTree>
    <p:extLst>
      <p:ext uri="{BB962C8B-B14F-4D97-AF65-F5344CB8AC3E}">
        <p14:creationId xmlns:p14="http://schemas.microsoft.com/office/powerpoint/2010/main" val="8186909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9C6D8-DCFB-4C32-96EA-B2D0178A29F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5D projection locates a high-energy difference</a:t>
            </a:r>
          </a:p>
        </p:txBody>
      </p:sp>
      <p:sp>
        <p:nvSpPr>
          <p:cNvPr id="2" name="">
            <a:extLst xmlns:a="http://schemas.openxmlformats.org/drawingml/2006/main">
              <a:ext uri="{FF2B5EF4-FFF2-40B4-BE49-F238E27FC236}">
                <a16:creationId xmlns:a16="http://schemas.microsoft.com/office/drawing/2014/main" id="{5B58F88C-6C45-4136-A4B2-67D97B0CF15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EE41A56-8676-4EA4-B896-BC34CE98363A}"/>
              </a:ext>
            </a:extLst>
          </p:cNvPr>
          <p:cNvPicPr>
            <a:picLocks xmlns:a="http://schemas.openxmlformats.org/drawingml/2006/main" noChangeAspect="1"/>
          </p:cNvPicPr>
          <p:nvPr/>
        </p:nvPicPr>
        <p:blipFill>
          <a:blip xmlns:r="http://schemas.openxmlformats.org/officeDocument/2006/relationships" xmlns:a="http://schemas.openxmlformats.org/drawingml/2006/main" r:embed="R9176d3933d2f4fa2"/>
          <a:stretch xmlns:a="http://schemas.openxmlformats.org/drawingml/2006/main"/>
        </p:blipFill>
        <p:spPr>
          <a:xfrm xmlns:a="http://schemas.openxmlformats.org/drawingml/2006/main">
            <a:off x="1394732" y="1571625"/>
            <a:ext cx="5449661" cy="4238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E93814-E536-4505-887D-C965754CE736}"/>
              </a:ext>
            </a:extLst>
          </p:cNvPr>
          <p:cNvSpPr>
            <a:spLocks xmlns:a="http://schemas.openxmlformats.org/drawingml/2006/main" noGrp="1"/>
          </p:cNvSpPr>
          <p:nvPr/>
        </p:nvSpPr>
        <p:spPr>
          <a:xfrm xmlns:a="http://schemas.openxmlformats.org/drawingml/2006/main">
            <a:off x="8020050" y="180975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Added-axis anchors pass</a:t>
            </a:r>
          </a:p>
        </p:txBody>
      </p:sp>
      <p:sp>
        <p:nvSpPr>
          <p:cNvPr id="5" name="">
            <a:extLst xmlns:a="http://schemas.openxmlformats.org/drawingml/2006/main">
              <a:ext uri="{FF2B5EF4-FFF2-40B4-BE49-F238E27FC236}">
                <a16:creationId xmlns:a16="http://schemas.microsoft.com/office/drawing/2014/main" id="{3C55EC2C-D77C-4EBD-9D9D-A5777040D5D2}"/>
              </a:ext>
            </a:extLst>
          </p:cNvPr>
          <p:cNvSpPr>
            <a:spLocks xmlns:a="http://schemas.openxmlformats.org/drawingml/2006/main" noGrp="1"/>
          </p:cNvSpPr>
          <p:nvPr/>
        </p:nvSpPr>
        <p:spPr>
          <a:xfrm xmlns:a="http://schemas.openxmlformats.org/drawingml/2006/main">
            <a:off x="8020050" y="2828925"/>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The nominal result exceeds the tuned prior at high Eavail and W</a:t>
            </a:r>
          </a:p>
        </p:txBody>
      </p:sp>
      <p:sp>
        <p:nvSpPr>
          <p:cNvPr id="6" name="">
            <a:extLst xmlns:a="http://schemas.openxmlformats.org/drawingml/2006/main">
              <a:ext uri="{FF2B5EF4-FFF2-40B4-BE49-F238E27FC236}">
                <a16:creationId xmlns:a16="http://schemas.microsoft.com/office/drawing/2014/main" id="{A04BF8F5-6726-49B4-86D4-F9E0D6F7DFCF}"/>
              </a:ext>
            </a:extLst>
          </p:cNvPr>
          <p:cNvSpPr>
            <a:spLocks xmlns:a="http://schemas.openxmlformats.org/drawingml/2006/main" noGrp="1"/>
          </p:cNvSpPr>
          <p:nvPr/>
        </p:nvSpPr>
        <p:spPr>
          <a:xfrm xmlns:a="http://schemas.openxmlformats.org/drawingml/2006/main">
            <a:off x="8020050" y="3848100"/>
            <a:ext cx="342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Regularization and detector response limit interpretation</a:t>
            </a:r>
          </a:p>
        </p:txBody>
      </p:sp>
      <p:sp>
        <p:nvSpPr>
          <p:cNvPr id="7" name="">
            <a:extLst xmlns:a="http://schemas.openxmlformats.org/drawingml/2006/main">
              <a:ext uri="{FF2B5EF4-FFF2-40B4-BE49-F238E27FC236}">
                <a16:creationId xmlns:a16="http://schemas.microsoft.com/office/drawing/2014/main" id="{F6491C7F-5403-4BA5-B2F7-42344E964E1F}"/>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Descriptive central values under the nominal response. The map does not establish a localized significance</a:t>
            </a:r>
          </a:p>
        </p:txBody>
      </p:sp>
      <p:sp>
        <p:nvSpPr>
          <p:cNvPr id="8" name="">
            <a:extLst xmlns:a="http://schemas.openxmlformats.org/drawingml/2006/main">
              <a:ext uri="{FF2B5EF4-FFF2-40B4-BE49-F238E27FC236}">
                <a16:creationId xmlns:a16="http://schemas.microsoft.com/office/drawing/2014/main" id="{50632A31-8AC8-487F-8207-A536BB6402AD}"/>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11</a:t>
            </a:r>
          </a:p>
        </p:txBody>
      </p:sp>
    </p:spTree>
    <p:extLst>
      <p:ext uri="{BB962C8B-B14F-4D97-AF65-F5344CB8AC3E}">
        <p14:creationId xmlns:p14="http://schemas.microsoft.com/office/powerpoint/2010/main" val="16500588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ABED1F-9932-4899-A931-A9B25FC34F9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Extending the domain increases reliance on simulation</a:t>
            </a:r>
          </a:p>
        </p:txBody>
      </p:sp>
      <p:sp>
        <p:nvSpPr>
          <p:cNvPr id="2" name="">
            <a:extLst xmlns:a="http://schemas.openxmlformats.org/drawingml/2006/main">
              <a:ext uri="{FF2B5EF4-FFF2-40B4-BE49-F238E27FC236}">
                <a16:creationId xmlns:a16="http://schemas.microsoft.com/office/drawing/2014/main" id="{A9F8FBB2-0E39-42FA-A95B-DF0D3998FF2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2785F8C-2198-47C6-BC87-A648F6EFAB67}"/>
              </a:ext>
            </a:extLst>
          </p:cNvPr>
          <p:cNvPicPr>
            <a:picLocks xmlns:a="http://schemas.openxmlformats.org/drawingml/2006/main" noChangeAspect="1"/>
          </p:cNvPicPr>
          <p:nvPr/>
        </p:nvPicPr>
        <p:blipFill>
          <a:blip xmlns:r="http://schemas.openxmlformats.org/officeDocument/2006/relationships" xmlns:a="http://schemas.openxmlformats.org/drawingml/2006/main" r:embed="R401ff5d493024066"/>
          <a:stretch xmlns:a="http://schemas.openxmlformats.org/drawingml/2006/main"/>
        </p:blipFill>
        <p:spPr>
          <a:xfrm xmlns:a="http://schemas.openxmlformats.org/drawingml/2006/main">
            <a:off x="619125" y="1791745"/>
            <a:ext cx="10906125" cy="308401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8848D1-A07C-4057-8BB2-F8C3F96F6BA3}"/>
              </a:ext>
            </a:extLst>
          </p:cNvPr>
          <p:cNvSpPr>
            <a:spLocks xmlns:a="http://schemas.openxmlformats.org/drawingml/2006/main" noGrp="1"/>
          </p:cNvSpPr>
          <p:nvPr/>
        </p:nvSpPr>
        <p:spPr>
          <a:xfrm xmlns:a="http://schemas.openxmlformats.org/drawingml/2006/main">
            <a:off x="666750"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Remove truth-muon kinematic cuts</a:t>
            </a:r>
          </a:p>
        </p:txBody>
      </p:sp>
      <p:sp>
        <p:nvSpPr>
          <p:cNvPr id="5" name="">
            <a:extLst xmlns:a="http://schemas.openxmlformats.org/drawingml/2006/main">
              <a:ext uri="{FF2B5EF4-FFF2-40B4-BE49-F238E27FC236}">
                <a16:creationId xmlns:a16="http://schemas.microsoft.com/office/drawing/2014/main" id="{FB05C18D-C56A-43F4-8FD7-FAD6C7A8BC63}"/>
              </a:ext>
            </a:extLst>
          </p:cNvPr>
          <p:cNvSpPr>
            <a:spLocks xmlns:a="http://schemas.openxmlformats.org/drawingml/2006/main" noGrp="1"/>
          </p:cNvSpPr>
          <p:nvPr/>
        </p:nvSpPr>
        <p:spPr>
          <a:xfrm xmlns:a="http://schemas.openxmlformats.org/drawingml/2006/main">
            <a:off x="6238875" y="5114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Keep the reconstructed MINOS selection</a:t>
            </a:r>
          </a:p>
        </p:txBody>
      </p:sp>
      <p:sp>
        <p:nvSpPr>
          <p:cNvPr id="6" name="">
            <a:extLst xmlns:a="http://schemas.openxmlformats.org/drawingml/2006/main">
              <a:ext uri="{FF2B5EF4-FFF2-40B4-BE49-F238E27FC236}">
                <a16:creationId xmlns:a16="http://schemas.microsoft.com/office/drawing/2014/main" id="{63DE9E23-F7EB-4E02-A574-1D124AE59794}"/>
              </a:ext>
            </a:extLst>
          </p:cNvPr>
          <p:cNvSpPr>
            <a:spLocks xmlns:a="http://schemas.openxmlformats.org/drawingml/2006/main" noGrp="1"/>
          </p:cNvSpPr>
          <p:nvPr/>
        </p:nvSpPr>
        <p:spPr>
          <a:xfrm xmlns:a="http://schemas.openxmlformats.org/drawingml/2006/main">
            <a:off x="666750"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34B"/>
                </a:solidFill>
                <a:latin typeface="Helvetica Neue"/>
                <a:ea typeface="Helvetica Neue"/>
                <a:cs typeface="Helvetica Neue"/>
              </a:defRPr>
            </a:defPPr>
          </a:lstStyle>
          <a:p xmlns:a="http://schemas.openxmlformats.org/drawingml/2006/main">
            <a:pPr>
              <a:defRPr sz="1725" b="0">
                <a:solidFill>
                  <a:srgbClr val="16334B"/>
                </a:solidFill>
                <a:latin typeface="Helvetica Neue"/>
                <a:ea typeface="Helvetica Neue"/>
                <a:cs typeface="Helvetica Neue"/>
              </a:defRPr>
            </a:pPr>
            <a:r>
              <a:rPr sz="1725" b="0">
                <a:solidFill>
                  <a:srgbClr val="16334B"/>
                </a:solidFill>
                <a:latin typeface="Helvetica Neue"/>
                <a:ea typeface="Helvetica Neue"/>
                <a:cs typeface="Helvetica Neue"/>
              </a:rPr>
              <a:t>27.7% of truth rate lies where efficiency &lt; 2%</a:t>
            </a:r>
          </a:p>
        </p:txBody>
      </p:sp>
      <p:sp>
        <p:nvSpPr>
          <p:cNvPr id="7" name="">
            <a:extLst xmlns:a="http://schemas.openxmlformats.org/drawingml/2006/main">
              <a:ext uri="{FF2B5EF4-FFF2-40B4-BE49-F238E27FC236}">
                <a16:creationId xmlns:a16="http://schemas.microsoft.com/office/drawing/2014/main" id="{1EFC339A-32B4-48D2-AD1A-1339C7908F63}"/>
              </a:ext>
            </a:extLst>
          </p:cNvPr>
          <p:cNvSpPr>
            <a:spLocks xmlns:a="http://schemas.openxmlformats.org/drawingml/2006/main" noGrp="1"/>
          </p:cNvSpPr>
          <p:nvPr/>
        </p:nvSpPr>
        <p:spPr>
          <a:xfrm xmlns:a="http://schemas.openxmlformats.org/drawingml/2006/main">
            <a:off x="6238875" y="5543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43B32"/>
                </a:solidFill>
                <a:latin typeface="Helvetica Neue"/>
                <a:ea typeface="Helvetica Neue"/>
                <a:cs typeface="Helvetica Neue"/>
              </a:defRPr>
            </a:defPPr>
          </a:lstStyle>
          <a:p xmlns:a="http://schemas.openxmlformats.org/drawingml/2006/main">
            <a:pPr>
              <a:defRPr sz="1725" b="0">
                <a:solidFill>
                  <a:srgbClr val="A43B32"/>
                </a:solidFill>
                <a:latin typeface="Helvetica Neue"/>
                <a:ea typeface="Helvetica Neue"/>
                <a:cs typeface="Helvetica Neue"/>
              </a:defRPr>
            </a:pPr>
            <a:r>
              <a:rPr sz="1725" b="0">
                <a:solidFill>
                  <a:srgbClr val="A43B32"/>
                </a:solidFill>
                <a:latin typeface="Helvetica Neue"/>
                <a:ea typeface="Helvetica Neue"/>
                <a:cs typeface="Helvetica Neue"/>
              </a:rPr>
              <a:t>Central-value and prior tests only</a:t>
            </a:r>
          </a:p>
        </p:txBody>
      </p:sp>
      <p:sp>
        <p:nvSpPr>
          <p:cNvPr id="8" name="">
            <a:extLst xmlns:a="http://schemas.openxmlformats.org/drawingml/2006/main">
              <a:ext uri="{FF2B5EF4-FFF2-40B4-BE49-F238E27FC236}">
                <a16:creationId xmlns:a16="http://schemas.microsoft.com/office/drawing/2014/main" id="{B74FAB2D-F1F3-4407-BD1F-98A285D9C70D}"/>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Extended fiducial domain. No corrected covariance for this extension</a:t>
            </a:r>
          </a:p>
        </p:txBody>
      </p:sp>
      <p:sp>
        <p:nvSpPr>
          <p:cNvPr id="9" name="">
            <a:extLst xmlns:a="http://schemas.openxmlformats.org/drawingml/2006/main">
              <a:ext uri="{FF2B5EF4-FFF2-40B4-BE49-F238E27FC236}">
                <a16:creationId xmlns:a16="http://schemas.microsoft.com/office/drawing/2014/main" id="{31375A5A-6DAD-49C3-92B1-D8032A75946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12</a:t>
            </a:r>
          </a:p>
        </p:txBody>
      </p:sp>
    </p:spTree>
    <p:extLst>
      <p:ext uri="{BB962C8B-B14F-4D97-AF65-F5344CB8AC3E}">
        <p14:creationId xmlns:p14="http://schemas.microsoft.com/office/powerpoint/2010/main" val="1238844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4954FF-31AE-4E42-9488-4229418EA1E9}"/>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adopted 5D covariance carries four measurements</a:t>
            </a:r>
          </a:p>
        </p:txBody>
      </p:sp>
      <p:sp>
        <p:nvSpPr>
          <p:cNvPr id="2" name="">
            <a:extLst xmlns:a="http://schemas.openxmlformats.org/drawingml/2006/main">
              <a:ext uri="{FF2B5EF4-FFF2-40B4-BE49-F238E27FC236}">
                <a16:creationId xmlns:a16="http://schemas.microsoft.com/office/drawing/2014/main" id="{1D2BF76F-7AB1-45DE-97DB-91543913A8B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62B675-B880-413C-A53A-480058BEB9CF}"/>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1. Seed sensitivity</a:t>
            </a:r>
          </a:p>
        </p:txBody>
      </p:sp>
      <p:sp>
        <p:nvSpPr>
          <p:cNvPr id="4" name="">
            <a:extLst xmlns:a="http://schemas.openxmlformats.org/drawingml/2006/main">
              <a:ext uri="{FF2B5EF4-FFF2-40B4-BE49-F238E27FC236}">
                <a16:creationId xmlns:a16="http://schemas.microsoft.com/office/drawing/2014/main" id="{1EB3F319-A573-4C08-B44A-5C3132739EA2}"/>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6.145% projected-width movement versus a 5% bound</a:t>
            </a:r>
          </a:p>
        </p:txBody>
      </p:sp>
      <p:sp>
        <p:nvSpPr>
          <p:cNvPr id="5" name="">
            <a:extLst xmlns:a="http://schemas.openxmlformats.org/drawingml/2006/main">
              <a:ext uri="{FF2B5EF4-FFF2-40B4-BE49-F238E27FC236}">
                <a16:creationId xmlns:a16="http://schemas.microsoft.com/office/drawing/2014/main" id="{E24F49DD-9C57-4939-946E-6EBEC8BD44C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A7BB97-520D-4824-8E68-A5CCC307546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2. Tested ensemble sizes</a:t>
            </a:r>
          </a:p>
        </p:txBody>
      </p:sp>
      <p:sp>
        <p:nvSpPr>
          <p:cNvPr id="7" name="">
            <a:extLst xmlns:a="http://schemas.openxmlformats.org/drawingml/2006/main">
              <a:ext uri="{FF2B5EF4-FFF2-40B4-BE49-F238E27FC236}">
                <a16:creationId xmlns:a16="http://schemas.microsoft.com/office/drawing/2014/main" id="{B9C95C63-45CF-4CAC-AA34-08D2783E90C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6.02%, 6.02%, 6.145% at N = 40, 80, 160. One seed pair</a:t>
            </a:r>
          </a:p>
        </p:txBody>
      </p:sp>
      <p:sp>
        <p:nvSpPr>
          <p:cNvPr id="8" name="">
            <a:extLst xmlns:a="http://schemas.openxmlformats.org/drawingml/2006/main">
              <a:ext uri="{FF2B5EF4-FFF2-40B4-BE49-F238E27FC236}">
                <a16:creationId xmlns:a16="http://schemas.microsoft.com/office/drawing/2014/main" id="{09198796-4558-4AB2-8D90-0AAAD4A316FD}"/>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ED9D62-9153-43AF-ACC6-01BAF01CEFD1}"/>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3. Unprobed bands</a:t>
            </a:r>
          </a:p>
        </p:txBody>
      </p:sp>
      <p:sp>
        <p:nvSpPr>
          <p:cNvPr id="10" name="">
            <a:extLst xmlns:a="http://schemas.openxmlformats.org/drawingml/2006/main">
              <a:ext uri="{FF2B5EF4-FFF2-40B4-BE49-F238E27FC236}">
                <a16:creationId xmlns:a16="http://schemas.microsoft.com/office/drawing/2014/main" id="{062E0DC1-D801-4819-B718-ECD5091D808D}"/>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Five seed-pinned bands: 6.75% of trace. Direction of missing effect unknown</a:t>
            </a:r>
          </a:p>
        </p:txBody>
      </p:sp>
      <p:sp>
        <p:nvSpPr>
          <p:cNvPr id="11" name="">
            <a:extLst xmlns:a="http://schemas.openxmlformats.org/drawingml/2006/main">
              <a:ext uri="{FF2B5EF4-FFF2-40B4-BE49-F238E27FC236}">
                <a16:creationId xmlns:a16="http://schemas.microsoft.com/office/drawing/2014/main" id="{3218A8DA-4A74-40D6-B6B6-F2B0AEAABC53}"/>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46437D-4EFA-4140-A9E5-03305D6FEAE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4. Central shifts</a:t>
            </a:r>
          </a:p>
        </p:txBody>
      </p:sp>
      <p:sp>
        <p:nvSpPr>
          <p:cNvPr id="13" name="">
            <a:extLst xmlns:a="http://schemas.openxmlformats.org/drawingml/2006/main">
              <a:ext uri="{FF2B5EF4-FFF2-40B4-BE49-F238E27FC236}">
                <a16:creationId xmlns:a16="http://schemas.microsoft.com/office/drawing/2014/main" id="{174D36CF-F6DB-4FA6-9EAC-8C95B3C6656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Up to 6.02% of projected uncertainty. Up to 49.8% in individual 5D bins</a:t>
            </a:r>
          </a:p>
        </p:txBody>
      </p:sp>
      <p:sp>
        <p:nvSpPr>
          <p:cNvPr id="14" name="">
            <a:extLst xmlns:a="http://schemas.openxmlformats.org/drawingml/2006/main">
              <a:ext uri="{FF2B5EF4-FFF2-40B4-BE49-F238E27FC236}">
                <a16:creationId xmlns:a16="http://schemas.microsoft.com/office/drawing/2014/main" id="{172BE3B6-F42C-405A-BED9-A9C40156D6FA}"/>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Digest 3d7465f6… adopted under a byte-specific exception. Product fields remain NON-PASSING / adoptable: false</a:t>
            </a:r>
          </a:p>
        </p:txBody>
      </p:sp>
      <p:sp>
        <p:nvSpPr>
          <p:cNvPr id="15" name="">
            <a:extLst xmlns:a="http://schemas.openxmlformats.org/drawingml/2006/main">
              <a:ext uri="{FF2B5EF4-FFF2-40B4-BE49-F238E27FC236}">
                <a16:creationId xmlns:a16="http://schemas.microsoft.com/office/drawing/2014/main" id="{C184B57D-0BD2-4C61-8B6D-8D1CDE23C5DC}"/>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13</a:t>
            </a:r>
          </a:p>
        </p:txBody>
      </p:sp>
    </p:spTree>
    <p:extLst>
      <p:ext uri="{BB962C8B-B14F-4D97-AF65-F5344CB8AC3E}">
        <p14:creationId xmlns:p14="http://schemas.microsoft.com/office/powerpoint/2010/main" val="9119533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504E63-AD73-437A-BDF8-B724CB16802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scalar campaigns exposed two distinct biases</a:t>
            </a:r>
          </a:p>
        </p:txBody>
      </p:sp>
      <p:sp>
        <p:nvSpPr>
          <p:cNvPr id="2" name="">
            <a:extLst xmlns:a="http://schemas.openxmlformats.org/drawingml/2006/main">
              <a:ext uri="{FF2B5EF4-FFF2-40B4-BE49-F238E27FC236}">
                <a16:creationId xmlns:a16="http://schemas.microsoft.com/office/drawing/2014/main" id="{0BAC7E3E-9A5D-4311-94DC-8604201C128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C1CBC7-0743-4656-B01E-67B2654CD8EC}"/>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Background treatment</a:t>
            </a:r>
          </a:p>
        </p:txBody>
      </p:sp>
      <p:sp>
        <p:nvSpPr>
          <p:cNvPr id="4" name="">
            <a:extLst xmlns:a="http://schemas.openxmlformats.org/drawingml/2006/main">
              <a:ext uri="{FF2B5EF4-FFF2-40B4-BE49-F238E27FC236}">
                <a16:creationId xmlns:a16="http://schemas.microsoft.com/office/drawing/2014/main" id="{8B721439-EDC3-4BEA-8619-3D6415E33FE1}"/>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Purity subtraction biases the highest-W column by about 4% in nominal toys</a:t>
            </a:r>
          </a:p>
        </p:txBody>
      </p:sp>
      <p:sp>
        <p:nvSpPr>
          <p:cNvPr id="5" name="">
            <a:extLst xmlns:a="http://schemas.openxmlformats.org/drawingml/2006/main">
              <a:ext uri="{FF2B5EF4-FFF2-40B4-BE49-F238E27FC236}">
                <a16:creationId xmlns:a16="http://schemas.microsoft.com/office/drawing/2014/main" id="{E6CE22AC-32C5-4536-8144-A433F070E9E8}"/>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4D2FFA-F7BE-4B4E-AA35-24C46FBA8BC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 departures</a:t>
            </a:r>
          </a:p>
        </p:txBody>
      </p:sp>
      <p:sp>
        <p:nvSpPr>
          <p:cNvPr id="7" name="">
            <a:extLst xmlns:a="http://schemas.openxmlformats.org/drawingml/2006/main">
              <a:ext uri="{FF2B5EF4-FFF2-40B4-BE49-F238E27FC236}">
                <a16:creationId xmlns:a16="http://schemas.microsoft.com/office/drawing/2014/main" id="{FC9A0D5C-985B-4B47-A906-8811BD2A51C5}"/>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Generator-sized deformations leave residuals up to 74% in tested cells</a:t>
            </a:r>
          </a:p>
        </p:txBody>
      </p:sp>
      <p:sp>
        <p:nvSpPr>
          <p:cNvPr id="8" name="">
            <a:extLst xmlns:a="http://schemas.openxmlformats.org/drawingml/2006/main">
              <a:ext uri="{FF2B5EF4-FFF2-40B4-BE49-F238E27FC236}">
                <a16:creationId xmlns:a16="http://schemas.microsoft.com/office/drawing/2014/main" id="{8978E2DB-903F-41EF-923A-9CC896FECF7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AECBF7-115B-4793-A83C-5BE0B7E855B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Targeted repair</a:t>
            </a:r>
          </a:p>
        </p:txBody>
      </p:sp>
      <p:sp>
        <p:nvSpPr>
          <p:cNvPr id="10" name="">
            <a:extLst xmlns:a="http://schemas.openxmlformats.org/drawingml/2006/main">
              <a:ext uri="{FF2B5EF4-FFF2-40B4-BE49-F238E27FC236}">
                <a16:creationId xmlns:a16="http://schemas.microsoft.com/office/drawing/2014/main" id="{24AF4F0E-C345-4CFA-BA32-76AE4F51AEC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More refinement-classifier capacity repairs nominal background bias</a:t>
            </a:r>
          </a:p>
        </p:txBody>
      </p:sp>
      <p:sp>
        <p:nvSpPr>
          <p:cNvPr id="11" name="">
            <a:extLst xmlns:a="http://schemas.openxmlformats.org/drawingml/2006/main">
              <a:ext uri="{FF2B5EF4-FFF2-40B4-BE49-F238E27FC236}">
                <a16:creationId xmlns:a16="http://schemas.microsoft.com/office/drawing/2014/main" id="{5A08C20A-217C-43B0-8223-ED678045E7E5}"/>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24E899-1981-481A-9A8B-9235C8C04E23}"/>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Remaining failure</a:t>
            </a:r>
          </a:p>
        </p:txBody>
      </p:sp>
      <p:sp>
        <p:nvSpPr>
          <p:cNvPr id="13" name="">
            <a:extLst xmlns:a="http://schemas.openxmlformats.org/drawingml/2006/main">
              <a:ext uri="{FF2B5EF4-FFF2-40B4-BE49-F238E27FC236}">
                <a16:creationId xmlns:a16="http://schemas.microsoft.com/office/drawing/2014/main" id="{1B134A29-8B65-4F0A-9DD0-DA098721496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Candidate R fails real-data numerical stability. No estimator adoption</a:t>
            </a:r>
          </a:p>
        </p:txBody>
      </p:sp>
      <p:sp>
        <p:nvSpPr>
          <p:cNvPr id="14" name="">
            <a:extLst xmlns:a="http://schemas.openxmlformats.org/drawingml/2006/main">
              <a:ext uri="{FF2B5EF4-FFF2-40B4-BE49-F238E27FC236}">
                <a16:creationId xmlns:a16="http://schemas.microsoft.com/office/drawing/2014/main" id="{00DE3D2A-05D4-42D0-A60F-4FD926092C0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14</a:t>
            </a:r>
          </a:p>
        </p:txBody>
      </p:sp>
    </p:spTree>
    <p:extLst>
      <p:ext uri="{BB962C8B-B14F-4D97-AF65-F5344CB8AC3E}">
        <p14:creationId xmlns:p14="http://schemas.microsoft.com/office/powerpoint/2010/main" val="5808141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AB26F6-B8FA-4474-971D-6ABA2A93F7F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 calibrated model test answers a narrower question</a:t>
            </a:r>
          </a:p>
        </p:txBody>
      </p:sp>
      <p:sp>
        <p:nvSpPr>
          <p:cNvPr id="2" name="">
            <a:extLst xmlns:a="http://schemas.openxmlformats.org/drawingml/2006/main">
              <a:ext uri="{FF2B5EF4-FFF2-40B4-BE49-F238E27FC236}">
                <a16:creationId xmlns:a16="http://schemas.microsoft.com/office/drawing/2014/main" id="{E8FC255A-A548-4DBB-9240-C8DF2EFA92A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FAFA77-978F-4E2F-A2D6-D844CE50D894}"/>
              </a:ext>
            </a:extLst>
          </p:cNvPr>
          <p:cNvSpPr>
            <a:spLocks xmlns:a="http://schemas.openxmlformats.org/drawingml/2006/main" noGrp="1"/>
          </p:cNvSpPr>
          <p:nvPr/>
        </p:nvSpPr>
        <p:spPr>
          <a:xfrm xmlns:a="http://schemas.openxmlformats.org/drawingml/2006/main">
            <a:off x="6286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146B9413-9A4D-442B-9DED-3796BAC10C9C}"/>
              </a:ext>
            </a:extLst>
          </p:cNvPr>
          <p:cNvSpPr>
            <a:spLocks xmlns:a="http://schemas.openxmlformats.org/drawingml/2006/main" noGrp="1"/>
          </p:cNvSpPr>
          <p:nvPr/>
        </p:nvSpPr>
        <p:spPr>
          <a:xfrm xmlns:a="http://schemas.openxmlformats.org/drawingml/2006/main">
            <a:off x="6286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Assume a generator truth</a:t>
            </a:r>
          </a:p>
        </p:txBody>
      </p:sp>
      <p:sp>
        <p:nvSpPr>
          <p:cNvPr id="5" name="">
            <a:extLst xmlns:a="http://schemas.openxmlformats.org/drawingml/2006/main">
              <a:ext uri="{FF2B5EF4-FFF2-40B4-BE49-F238E27FC236}">
                <a16:creationId xmlns:a16="http://schemas.microsoft.com/office/drawing/2014/main" id="{11DEE8ED-77F3-44CD-9D19-D01114F7CA31}"/>
              </a:ext>
            </a:extLst>
          </p:cNvPr>
          <p:cNvSpPr>
            <a:spLocks xmlns:a="http://schemas.openxmlformats.org/drawingml/2006/main" noGrp="1"/>
          </p:cNvSpPr>
          <p:nvPr/>
        </p:nvSpPr>
        <p:spPr>
          <a:xfrm xmlns:a="http://schemas.openxmlformats.org/drawingml/2006/main">
            <a:off x="6286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Specify the fine-grid cross section and sub-grid model</a:t>
            </a:r>
          </a:p>
        </p:txBody>
      </p:sp>
      <p:sp>
        <p:nvSpPr>
          <p:cNvPr id="6" name="">
            <a:extLst xmlns:a="http://schemas.openxmlformats.org/drawingml/2006/main">
              <a:ext uri="{FF2B5EF4-FFF2-40B4-BE49-F238E27FC236}">
                <a16:creationId xmlns:a16="http://schemas.microsoft.com/office/drawing/2014/main" id="{F46D4DBE-BFD8-4FC2-BE05-876E5F1224EF}"/>
              </a:ext>
            </a:extLst>
          </p:cNvPr>
          <p:cNvSpPr>
            <a:spLocks xmlns:a="http://schemas.openxmlformats.org/drawingml/2006/main" noGrp="1"/>
          </p:cNvSpPr>
          <p:nvPr/>
        </p:nvSpPr>
        <p:spPr>
          <a:xfrm xmlns:a="http://schemas.openxmlformats.org/drawingml/2006/main">
            <a:off x="6286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This defines the null hypothesis</a:t>
            </a:r>
          </a:p>
        </p:txBody>
      </p:sp>
      <p:sp>
        <p:nvSpPr>
          <p:cNvPr id="7" name="">
            <a:extLst xmlns:a="http://schemas.openxmlformats.org/drawingml/2006/main">
              <a:ext uri="{FF2B5EF4-FFF2-40B4-BE49-F238E27FC236}">
                <a16:creationId xmlns:a16="http://schemas.microsoft.com/office/drawing/2014/main" id="{5868340C-2D55-450C-BADF-38A65C9050DD}"/>
              </a:ext>
            </a:extLst>
          </p:cNvPr>
          <p:cNvSpPr>
            <a:spLocks xmlns:a="http://schemas.openxmlformats.org/drawingml/2006/main" noGrp="1"/>
          </p:cNvSpPr>
          <p:nvPr/>
        </p:nvSpPr>
        <p:spPr>
          <a:xfrm xmlns:a="http://schemas.openxmlformats.org/drawingml/2006/main">
            <a:off x="396240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89C649-CFBB-4099-A9B3-F36D61EDC03F}"/>
              </a:ext>
            </a:extLst>
          </p:cNvPr>
          <p:cNvSpPr>
            <a:spLocks xmlns:a="http://schemas.openxmlformats.org/drawingml/2006/main" noGrp="1"/>
          </p:cNvSpPr>
          <p:nvPr/>
        </p:nvSpPr>
        <p:spPr>
          <a:xfrm xmlns:a="http://schemas.openxmlformats.org/drawingml/2006/main">
            <a:off x="434340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93A182F0-79C1-42FF-A127-D2F9158127B4}"/>
              </a:ext>
            </a:extLst>
          </p:cNvPr>
          <p:cNvSpPr>
            <a:spLocks xmlns:a="http://schemas.openxmlformats.org/drawingml/2006/main" noGrp="1"/>
          </p:cNvSpPr>
          <p:nvPr/>
        </p:nvSpPr>
        <p:spPr>
          <a:xfrm xmlns:a="http://schemas.openxmlformats.org/drawingml/2006/main">
            <a:off x="434340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Simulate repeated experiments</a:t>
            </a:r>
          </a:p>
        </p:txBody>
      </p:sp>
      <p:sp>
        <p:nvSpPr>
          <p:cNvPr id="10" name="">
            <a:extLst xmlns:a="http://schemas.openxmlformats.org/drawingml/2006/main">
              <a:ext uri="{FF2B5EF4-FFF2-40B4-BE49-F238E27FC236}">
                <a16:creationId xmlns:a16="http://schemas.microsoft.com/office/drawing/2014/main" id="{CDE9C2CF-F8A1-497C-96E0-10BB86280608}"/>
              </a:ext>
            </a:extLst>
          </p:cNvPr>
          <p:cNvSpPr>
            <a:spLocks xmlns:a="http://schemas.openxmlformats.org/drawingml/2006/main" noGrp="1"/>
          </p:cNvSpPr>
          <p:nvPr/>
        </p:nvSpPr>
        <p:spPr>
          <a:xfrm xmlns:a="http://schemas.openxmlformats.org/drawingml/2006/main">
            <a:off x="434340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Apply the declared nuisance variations and the estimator</a:t>
            </a:r>
          </a:p>
        </p:txBody>
      </p:sp>
      <p:sp>
        <p:nvSpPr>
          <p:cNvPr id="11" name="">
            <a:extLst xmlns:a="http://schemas.openxmlformats.org/drawingml/2006/main">
              <a:ext uri="{FF2B5EF4-FFF2-40B4-BE49-F238E27FC236}">
                <a16:creationId xmlns:a16="http://schemas.microsoft.com/office/drawing/2014/main" id="{6BAFCFBE-D227-4E24-A03C-117F7104102E}"/>
              </a:ext>
            </a:extLst>
          </p:cNvPr>
          <p:cNvSpPr>
            <a:spLocks xmlns:a="http://schemas.openxmlformats.org/drawingml/2006/main" noGrp="1"/>
          </p:cNvSpPr>
          <p:nvPr/>
        </p:nvSpPr>
        <p:spPr>
          <a:xfrm xmlns:a="http://schemas.openxmlformats.org/drawingml/2006/main">
            <a:off x="434340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Measure its behavior under that null</a:t>
            </a:r>
          </a:p>
        </p:txBody>
      </p:sp>
      <p:sp>
        <p:nvSpPr>
          <p:cNvPr id="12" name="">
            <a:extLst xmlns:a="http://schemas.openxmlformats.org/drawingml/2006/main">
              <a:ext uri="{FF2B5EF4-FFF2-40B4-BE49-F238E27FC236}">
                <a16:creationId xmlns:a16="http://schemas.microsoft.com/office/drawing/2014/main" id="{EA971638-B3D4-432A-BB74-5B2BDF0FED93}"/>
              </a:ext>
            </a:extLst>
          </p:cNvPr>
          <p:cNvSpPr>
            <a:spLocks xmlns:a="http://schemas.openxmlformats.org/drawingml/2006/main" noGrp="1"/>
          </p:cNvSpPr>
          <p:nvPr/>
        </p:nvSpPr>
        <p:spPr>
          <a:xfrm xmlns:a="http://schemas.openxmlformats.org/drawingml/2006/main">
            <a:off x="7677150" y="1809750"/>
            <a:ext cx="19050" cy="357187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83E0D0-259D-4EAE-89AA-9EA0150F3526}"/>
              </a:ext>
            </a:extLst>
          </p:cNvPr>
          <p:cNvSpPr>
            <a:spLocks xmlns:a="http://schemas.openxmlformats.org/drawingml/2006/main" noGrp="1"/>
          </p:cNvSpPr>
          <p:nvPr/>
        </p:nvSpPr>
        <p:spPr>
          <a:xfrm xmlns:a="http://schemas.openxmlformats.org/drawingml/2006/main">
            <a:off x="805815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87F8C"/>
                </a:solidFill>
                <a:latin typeface="Helvetica Neue"/>
                <a:ea typeface="Helvetica Neue"/>
                <a:cs typeface="Helvetica Neue"/>
              </a:defRPr>
            </a:defPPr>
          </a:lstStyle>
          <a:p xmlns:a="http://schemas.openxmlformats.org/drawingml/2006/main">
            <a:pPr>
              <a:defRPr sz="3300" b="1">
                <a:solidFill>
                  <a:srgbClr val="087F8C"/>
                </a:solidFill>
                <a:latin typeface="Helvetica Neue"/>
                <a:ea typeface="Helvetica Neue"/>
                <a:cs typeface="Helvetica Neue"/>
              </a:defRPr>
            </a:pPr>
            <a:r>
              <a:rPr sz="3300" b="1">
                <a:solidFill>
                  <a:srgbClr val="087F8C"/>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D8459D5-2778-498E-A401-9A16BBD42FBF}"/>
              </a:ext>
            </a:extLst>
          </p:cNvPr>
          <p:cNvSpPr>
            <a:spLocks xmlns:a="http://schemas.openxmlformats.org/drawingml/2006/main" noGrp="1"/>
          </p:cNvSpPr>
          <p:nvPr/>
        </p:nvSpPr>
        <p:spPr>
          <a:xfrm xmlns:a="http://schemas.openxmlformats.org/drawingml/2006/main">
            <a:off x="8058150" y="2543175"/>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334B"/>
                </a:solidFill>
                <a:latin typeface="Helvetica Neue"/>
                <a:ea typeface="Helvetica Neue"/>
                <a:cs typeface="Helvetica Neue"/>
              </a:defRPr>
            </a:defPPr>
          </a:lstStyle>
          <a:p xmlns:a="http://schemas.openxmlformats.org/drawingml/2006/main">
            <a:pPr>
              <a:defRPr sz="2250" b="1">
                <a:solidFill>
                  <a:srgbClr val="16334B"/>
                </a:solidFill>
                <a:latin typeface="Helvetica Neue"/>
                <a:ea typeface="Helvetica Neue"/>
                <a:cs typeface="Helvetica Neue"/>
              </a:defRPr>
            </a:pPr>
            <a:r>
              <a:rPr sz="2250" b="1">
                <a:solidFill>
                  <a:srgbClr val="16334B"/>
                </a:solidFill>
                <a:latin typeface="Helvetica Neue"/>
                <a:ea typeface="Helvetica Neue"/>
                <a:cs typeface="Helvetica Neue"/>
              </a:rPr>
              <a:t>Compare the observed statistic</a:t>
            </a:r>
          </a:p>
        </p:txBody>
      </p:sp>
      <p:sp>
        <p:nvSpPr>
          <p:cNvPr id="15" name="">
            <a:extLst xmlns:a="http://schemas.openxmlformats.org/drawingml/2006/main">
              <a:ext uri="{FF2B5EF4-FFF2-40B4-BE49-F238E27FC236}">
                <a16:creationId xmlns:a16="http://schemas.microsoft.com/office/drawing/2014/main" id="{66ED0EA0-E208-4F0D-91DD-51BB8D2041B6}"/>
              </a:ext>
            </a:extLst>
          </p:cNvPr>
          <p:cNvSpPr>
            <a:spLocks xmlns:a="http://schemas.openxmlformats.org/drawingml/2006/main" noGrp="1"/>
          </p:cNvSpPr>
          <p:nvPr/>
        </p:nvSpPr>
        <p:spPr>
          <a:xfrm xmlns:a="http://schemas.openxmlformats.org/drawingml/2006/main">
            <a:off x="8058150" y="34575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34B"/>
                </a:solidFill>
                <a:latin typeface="Helvetica Neue"/>
                <a:ea typeface="Helvetica Neue"/>
                <a:cs typeface="Helvetica Neue"/>
              </a:defRPr>
            </a:defPPr>
          </a:lstStyle>
          <a:p xmlns:a="http://schemas.openxmlformats.org/drawingml/2006/main">
            <a:pPr>
              <a:defRPr sz="2100" b="0">
                <a:solidFill>
                  <a:srgbClr val="16334B"/>
                </a:solidFill>
                <a:latin typeface="Helvetica Neue"/>
                <a:ea typeface="Helvetica Neue"/>
                <a:cs typeface="Helvetica Neue"/>
              </a:defRPr>
            </a:pPr>
            <a:r>
              <a:rPr sz="2100" b="0">
                <a:solidFill>
                  <a:srgbClr val="16334B"/>
                </a:solidFill>
                <a:latin typeface="Helvetica Neue"/>
                <a:ea typeface="Helvetica Neue"/>
                <a:cs typeface="Helvetica Neue"/>
              </a:rPr>
              <a:t>Count simulated tests at least as extreme</a:t>
            </a:r>
          </a:p>
        </p:txBody>
      </p:sp>
      <p:sp>
        <p:nvSpPr>
          <p:cNvPr id="16" name="">
            <a:extLst xmlns:a="http://schemas.openxmlformats.org/drawingml/2006/main">
              <a:ext uri="{FF2B5EF4-FFF2-40B4-BE49-F238E27FC236}">
                <a16:creationId xmlns:a16="http://schemas.microsoft.com/office/drawing/2014/main" id="{6BFEEC48-8F1F-47CE-A049-729240A55FD5}"/>
              </a:ext>
            </a:extLst>
          </p:cNvPr>
          <p:cNvSpPr>
            <a:spLocks xmlns:a="http://schemas.openxmlformats.org/drawingml/2006/main" noGrp="1"/>
          </p:cNvSpPr>
          <p:nvPr/>
        </p:nvSpPr>
        <p:spPr>
          <a:xfrm xmlns:a="http://schemas.openxmlformats.org/drawingml/2006/main">
            <a:off x="8058150" y="4667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Correct for the ten comparisons</a:t>
            </a:r>
          </a:p>
        </p:txBody>
      </p:sp>
      <p:sp>
        <p:nvSpPr>
          <p:cNvPr id="17" name="">
            <a:extLst xmlns:a="http://schemas.openxmlformats.org/drawingml/2006/main">
              <a:ext uri="{FF2B5EF4-FFF2-40B4-BE49-F238E27FC236}">
                <a16:creationId xmlns:a16="http://schemas.microsoft.com/office/drawing/2014/main" id="{3AD31B49-B592-4768-BB5D-2209418F4C7F}"/>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s5p measurement branch: NOT ADMITTED. The separate inference branch supplies no new reportable uncertainty</a:t>
            </a:r>
          </a:p>
        </p:txBody>
      </p:sp>
      <p:sp>
        <p:nvSpPr>
          <p:cNvPr id="18" name="">
            <a:extLst xmlns:a="http://schemas.openxmlformats.org/drawingml/2006/main">
              <a:ext uri="{FF2B5EF4-FFF2-40B4-BE49-F238E27FC236}">
                <a16:creationId xmlns:a16="http://schemas.microsoft.com/office/drawing/2014/main" id="{C20A017A-C794-4CD2-9D81-D272C6100766}"/>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15</a:t>
            </a:r>
          </a:p>
        </p:txBody>
      </p:sp>
    </p:spTree>
    <p:extLst>
      <p:ext uri="{BB962C8B-B14F-4D97-AF65-F5344CB8AC3E}">
        <p14:creationId xmlns:p14="http://schemas.microsoft.com/office/powerpoint/2010/main" val="18353689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505EFF-FC01-463F-969A-2721D87BAF7B}"/>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All ten tests reject their specified hybrid nulls</a:t>
            </a:r>
          </a:p>
        </p:txBody>
      </p:sp>
      <p:sp>
        <p:nvSpPr>
          <p:cNvPr id="2" name="">
            <a:extLst xmlns:a="http://schemas.openxmlformats.org/drawingml/2006/main">
              <a:ext uri="{FF2B5EF4-FFF2-40B4-BE49-F238E27FC236}">
                <a16:creationId xmlns:a16="http://schemas.microsoft.com/office/drawing/2014/main" id="{B054C178-B245-4396-A14B-38A3FCABDB6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5B3861-C3BB-4A75-9F3F-B1D42B3FEE1F}"/>
              </a:ext>
            </a:extLst>
          </p:cNvPr>
          <p:cNvSpPr>
            <a:spLocks xmlns:a="http://schemas.openxmlformats.org/drawingml/2006/main" noGrp="1"/>
          </p:cNvSpPr>
          <p:nvPr/>
        </p:nvSpPr>
        <p:spPr>
          <a:xfrm xmlns:a="http://schemas.openxmlformats.org/drawingml/2006/main">
            <a:off x="628650" y="15049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Five predictions × total and shape, familywise α = 0.05</a:t>
            </a:r>
          </a:p>
        </p:txBody>
      </p:sp>
      <p:sp>
        <p:nvSpPr>
          <p:cNvPr id="4" name="">
            <a:extLst xmlns:a="http://schemas.openxmlformats.org/drawingml/2006/main">
              <a:ext uri="{FF2B5EF4-FFF2-40B4-BE49-F238E27FC236}">
                <a16:creationId xmlns:a16="http://schemas.microsoft.com/office/drawing/2014/main" id="{F7C66207-01F4-49C2-B4D0-96EEC812F566}"/>
              </a:ext>
            </a:extLst>
          </p:cNvPr>
          <p:cNvSpPr>
            <a:spLocks xmlns:a="http://schemas.openxmlformats.org/drawingml/2006/main" noGrp="1"/>
          </p:cNvSpPr>
          <p:nvPr/>
        </p:nvSpPr>
        <p:spPr>
          <a:xfrm xmlns:a="http://schemas.openxmlformats.org/drawingml/2006/main">
            <a:off x="628650" y="21431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17E6FC77-1663-4B45-AAEA-48BFA93B84E5}"/>
              </a:ext>
            </a:extLst>
          </p:cNvPr>
          <p:cNvSpPr>
            <a:spLocks xmlns:a="http://schemas.openxmlformats.org/drawingml/2006/main" noGrp="1"/>
          </p:cNvSpPr>
          <p:nvPr/>
        </p:nvSpPr>
        <p:spPr>
          <a:xfrm xmlns:a="http://schemas.openxmlformats.org/drawingml/2006/main">
            <a:off x="1190625" y="21431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Sub-grid shape is model-imposed. Refinement has not converged</a:t>
            </a:r>
          </a:p>
        </p:txBody>
      </p:sp>
      <p:sp>
        <p:nvSpPr>
          <p:cNvPr id="6" name="">
            <a:extLst xmlns:a="http://schemas.openxmlformats.org/drawingml/2006/main">
              <a:ext uri="{FF2B5EF4-FFF2-40B4-BE49-F238E27FC236}">
                <a16:creationId xmlns:a16="http://schemas.microsoft.com/office/drawing/2014/main" id="{51CDF773-26EE-43AF-A00E-34C3C0F86B7B}"/>
              </a:ext>
            </a:extLst>
          </p:cNvPr>
          <p:cNvSpPr>
            <a:spLocks xmlns:a="http://schemas.openxmlformats.org/drawingml/2006/main" noGrp="1"/>
          </p:cNvSpPr>
          <p:nvPr/>
        </p:nvSpPr>
        <p:spPr>
          <a:xfrm xmlns:a="http://schemas.openxmlformats.org/drawingml/2006/main">
            <a:off x="628650" y="27336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9F070C63-EED1-416E-BC10-5E41B6F172F7}"/>
              </a:ext>
            </a:extLst>
          </p:cNvPr>
          <p:cNvSpPr>
            <a:spLocks xmlns:a="http://schemas.openxmlformats.org/drawingml/2006/main" noGrp="1"/>
          </p:cNvSpPr>
          <p:nvPr/>
        </p:nvSpPr>
        <p:spPr>
          <a:xfrm xmlns:a="http://schemas.openxmlformats.org/drawingml/2006/main">
            <a:off x="1190625" y="27336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Declared detector bands only. No recoil-energy-scale band</a:t>
            </a:r>
          </a:p>
        </p:txBody>
      </p:sp>
      <p:sp>
        <p:nvSpPr>
          <p:cNvPr id="8" name="">
            <a:extLst xmlns:a="http://schemas.openxmlformats.org/drawingml/2006/main">
              <a:ext uri="{FF2B5EF4-FFF2-40B4-BE49-F238E27FC236}">
                <a16:creationId xmlns:a16="http://schemas.microsoft.com/office/drawing/2014/main" id="{AF8FA825-ECF2-4832-8B54-C07F780EDC13}"/>
              </a:ext>
            </a:extLst>
          </p:cNvPr>
          <p:cNvSpPr>
            <a:spLocks xmlns:a="http://schemas.openxmlformats.org/drawingml/2006/main" noGrp="1"/>
          </p:cNvSpPr>
          <p:nvPr/>
        </p:nvSpPr>
        <p:spPr>
          <a:xfrm xmlns:a="http://schemas.openxmlformats.org/drawingml/2006/main">
            <a:off x="628650" y="33242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0B3BF796-9E5E-4521-9530-6869D8734750}"/>
              </a:ext>
            </a:extLst>
          </p:cNvPr>
          <p:cNvSpPr>
            <a:spLocks xmlns:a="http://schemas.openxmlformats.org/drawingml/2006/main" noGrp="1"/>
          </p:cNvSpPr>
          <p:nvPr/>
        </p:nvSpPr>
        <p:spPr>
          <a:xfrm xmlns:a="http://schemas.openxmlformats.org/drawingml/2006/main">
            <a:off x="1190625" y="33242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34 interaction-model bands. Two negative-weight variations clipped</a:t>
            </a:r>
          </a:p>
        </p:txBody>
      </p:sp>
      <p:sp>
        <p:nvSpPr>
          <p:cNvPr id="10" name="">
            <a:extLst xmlns:a="http://schemas.openxmlformats.org/drawingml/2006/main">
              <a:ext uri="{FF2B5EF4-FFF2-40B4-BE49-F238E27FC236}">
                <a16:creationId xmlns:a16="http://schemas.microsoft.com/office/drawing/2014/main" id="{356186AD-EA6B-4B54-9B99-1BACD4A48B86}"/>
              </a:ext>
            </a:extLst>
          </p:cNvPr>
          <p:cNvSpPr>
            <a:spLocks xmlns:a="http://schemas.openxmlformats.org/drawingml/2006/main" noGrp="1"/>
          </p:cNvSpPr>
          <p:nvPr/>
        </p:nvSpPr>
        <p:spPr>
          <a:xfrm xmlns:a="http://schemas.openxmlformats.org/drawingml/2006/main">
            <a:off x="628650" y="39147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5A01C139-7494-4AB9-838D-EBDAE98762BE}"/>
              </a:ext>
            </a:extLst>
          </p:cNvPr>
          <p:cNvSpPr>
            <a:spLocks xmlns:a="http://schemas.openxmlformats.org/drawingml/2006/main" noGrp="1"/>
          </p:cNvSpPr>
          <p:nvPr/>
        </p:nvSpPr>
        <p:spPr>
          <a:xfrm xmlns:a="http://schemas.openxmlformats.org/drawingml/2006/main">
            <a:off x="1190625" y="39147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Half-MC toys versus full-MC data fit. Shift assessed and included</a:t>
            </a:r>
          </a:p>
        </p:txBody>
      </p:sp>
      <p:sp>
        <p:nvSpPr>
          <p:cNvPr id="12" name="">
            <a:extLst xmlns:a="http://schemas.openxmlformats.org/drawingml/2006/main">
              <a:ext uri="{FF2B5EF4-FFF2-40B4-BE49-F238E27FC236}">
                <a16:creationId xmlns:a16="http://schemas.microsoft.com/office/drawing/2014/main" id="{505709A9-87D2-4710-BDC1-765E3BADCC95}"/>
              </a:ext>
            </a:extLst>
          </p:cNvPr>
          <p:cNvSpPr>
            <a:spLocks xmlns:a="http://schemas.openxmlformats.org/drawingml/2006/main" noGrp="1"/>
          </p:cNvSpPr>
          <p:nvPr/>
        </p:nvSpPr>
        <p:spPr>
          <a:xfrm xmlns:a="http://schemas.openxmlformats.org/drawingml/2006/main">
            <a:off x="628650" y="450532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D5B306BF-ED2B-4320-90D6-CFABB5A29FD0}"/>
              </a:ext>
            </a:extLst>
          </p:cNvPr>
          <p:cNvSpPr>
            <a:spLocks xmlns:a="http://schemas.openxmlformats.org/drawingml/2006/main" noGrp="1"/>
          </p:cNvSpPr>
          <p:nvPr/>
        </p:nvSpPr>
        <p:spPr>
          <a:xfrm xmlns:a="http://schemas.openxmlformats.org/drawingml/2006/main">
            <a:off x="1190625" y="450532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GiBUU has no Eν &gt; 20 GeV. All predictions stop at 100 GeV</a:t>
            </a:r>
          </a:p>
        </p:txBody>
      </p:sp>
      <p:sp>
        <p:nvSpPr>
          <p:cNvPr id="14" name="">
            <a:extLst xmlns:a="http://schemas.openxmlformats.org/drawingml/2006/main">
              <a:ext uri="{FF2B5EF4-FFF2-40B4-BE49-F238E27FC236}">
                <a16:creationId xmlns:a16="http://schemas.microsoft.com/office/drawing/2014/main" id="{D479B681-ACEA-43A7-99B2-8088C87232E6}"/>
              </a:ext>
            </a:extLst>
          </p:cNvPr>
          <p:cNvSpPr>
            <a:spLocks xmlns:a="http://schemas.openxmlformats.org/drawingml/2006/main" noGrp="1"/>
          </p:cNvSpPr>
          <p:nvPr/>
        </p:nvSpPr>
        <p:spPr>
          <a:xfrm xmlns:a="http://schemas.openxmlformats.org/drawingml/2006/main">
            <a:off x="628650" y="5095875"/>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8C"/>
                </a:solidFill>
                <a:latin typeface="Helvetica Neue"/>
                <a:ea typeface="Helvetica Neue"/>
                <a:cs typeface="Helvetica Neue"/>
              </a:defRPr>
            </a:defPPr>
          </a:lstStyle>
          <a:p xmlns:a="http://schemas.openxmlformats.org/drawingml/2006/main">
            <a:pPr>
              <a:defRPr sz="2100" b="1">
                <a:solidFill>
                  <a:srgbClr val="087F8C"/>
                </a:solidFill>
                <a:latin typeface="Helvetica Neue"/>
                <a:ea typeface="Helvetica Neue"/>
                <a:cs typeface="Helvetica Neue"/>
              </a:defRPr>
            </a:pPr>
            <a:r>
              <a:rPr sz="2100" b="1">
                <a:solidFill>
                  <a:srgbClr val="087F8C"/>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2DB66957-AF65-472C-A631-7CD65B352AD8}"/>
              </a:ext>
            </a:extLst>
          </p:cNvPr>
          <p:cNvSpPr>
            <a:spLocks xmlns:a="http://schemas.openxmlformats.org/drawingml/2006/main" noGrp="1"/>
          </p:cNvSpPr>
          <p:nvPr/>
        </p:nvSpPr>
        <p:spPr>
          <a:xfrm xmlns:a="http://schemas.openxmlformats.org/drawingml/2006/main">
            <a:off x="1190625" y="5095875"/>
            <a:ext cx="1023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Generator finite-sample uncertainty enters the metric and draws</a:t>
            </a:r>
          </a:p>
        </p:txBody>
      </p:sp>
      <p:sp>
        <p:nvSpPr>
          <p:cNvPr id="16" name="">
            <a:extLst xmlns:a="http://schemas.openxmlformats.org/drawingml/2006/main">
              <a:ext uri="{FF2B5EF4-FFF2-40B4-BE49-F238E27FC236}">
                <a16:creationId xmlns:a16="http://schemas.microsoft.com/office/drawing/2014/main" id="{6CD71516-C83C-49A4-B07B-0A5BBBBC41EB}"/>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Conditional inference with candidate R, not a measured cross section. Independent recomputation agrees on the calculation</a:t>
            </a:r>
          </a:p>
        </p:txBody>
      </p:sp>
      <p:sp>
        <p:nvSpPr>
          <p:cNvPr id="17" name="">
            <a:extLst xmlns:a="http://schemas.openxmlformats.org/drawingml/2006/main">
              <a:ext uri="{FF2B5EF4-FFF2-40B4-BE49-F238E27FC236}">
                <a16:creationId xmlns:a16="http://schemas.microsoft.com/office/drawing/2014/main" id="{D5AF8CCA-5EEE-4ECD-8BC0-FE60EA26779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16</a:t>
            </a:r>
          </a:p>
        </p:txBody>
      </p:sp>
    </p:spTree>
    <p:extLst>
      <p:ext uri="{BB962C8B-B14F-4D97-AF65-F5344CB8AC3E}">
        <p14:creationId xmlns:p14="http://schemas.microsoft.com/office/powerpoint/2010/main" val="7367407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30EF7B-8752-4314-8DA6-34BA66D47428}"/>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inference has useful, measured limits</a:t>
            </a:r>
          </a:p>
        </p:txBody>
      </p:sp>
      <p:sp>
        <p:nvSpPr>
          <p:cNvPr id="2" name="">
            <a:extLst xmlns:a="http://schemas.openxmlformats.org/drawingml/2006/main">
              <a:ext uri="{FF2B5EF4-FFF2-40B4-BE49-F238E27FC236}">
                <a16:creationId xmlns:a16="http://schemas.microsoft.com/office/drawing/2014/main" id="{B5260341-46CE-4AF0-A637-CA3484EFD7E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C857DF-81C7-4FDB-AF31-7368D8838177}"/>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Grid sensitivity</a:t>
            </a:r>
          </a:p>
        </p:txBody>
      </p:sp>
      <p:sp>
        <p:nvSpPr>
          <p:cNvPr id="4" name="">
            <a:extLst xmlns:a="http://schemas.openxmlformats.org/drawingml/2006/main">
              <a:ext uri="{FF2B5EF4-FFF2-40B4-BE49-F238E27FC236}">
                <a16:creationId xmlns:a16="http://schemas.microsoft.com/office/drawing/2014/main" id="{97ED5AEB-9527-4562-BDCA-C2369DCCD08E}"/>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All decisions remain determinate to κ ≈ 5.25 along one tested shift direction</a:t>
            </a:r>
          </a:p>
        </p:txBody>
      </p:sp>
      <p:sp>
        <p:nvSpPr>
          <p:cNvPr id="5" name="">
            <a:extLst xmlns:a="http://schemas.openxmlformats.org/drawingml/2006/main">
              <a:ext uri="{FF2B5EF4-FFF2-40B4-BE49-F238E27FC236}">
                <a16:creationId xmlns:a16="http://schemas.microsoft.com/office/drawing/2014/main" id="{8EE98251-A32F-43CF-8F61-53B5C74DE0F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9AC0BC-E9FE-4F5B-AE91-F2E035ABB826}"/>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Response sensitivity</a:t>
            </a:r>
          </a:p>
        </p:txBody>
      </p:sp>
      <p:sp>
        <p:nvSpPr>
          <p:cNvPr id="7" name="">
            <a:extLst xmlns:a="http://schemas.openxmlformats.org/drawingml/2006/main">
              <a:ext uri="{FF2B5EF4-FFF2-40B4-BE49-F238E27FC236}">
                <a16:creationId xmlns:a16="http://schemas.microsoft.com/office/drawing/2014/main" id="{2FA4D4A8-FEB2-4E8D-9AE2-B1B0D30D41E8}"/>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Exploratory ±4% data-side scale does not remove the rejections</a:t>
            </a:r>
          </a:p>
        </p:txBody>
      </p:sp>
      <p:sp>
        <p:nvSpPr>
          <p:cNvPr id="8" name="">
            <a:extLst xmlns:a="http://schemas.openxmlformats.org/drawingml/2006/main">
              <a:ext uri="{FF2B5EF4-FFF2-40B4-BE49-F238E27FC236}">
                <a16:creationId xmlns:a16="http://schemas.microsoft.com/office/drawing/2014/main" id="{DB6E2EEF-BEED-4422-86DF-59B2F71550EA}"/>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87A2A4-B20A-43D0-83DA-76557D978335}"/>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Dimensional comparison</a:t>
            </a:r>
          </a:p>
        </p:txBody>
      </p:sp>
      <p:sp>
        <p:nvSpPr>
          <p:cNvPr id="10" name="">
            <a:extLst xmlns:a="http://schemas.openxmlformats.org/drawingml/2006/main">
              <a:ext uri="{FF2B5EF4-FFF2-40B4-BE49-F238E27FC236}">
                <a16:creationId xmlns:a16="http://schemas.microsoft.com/office/drawing/2014/main" id="{8152419C-6654-4EC1-B14B-EAF60E07023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qualified claim of extra power beyond matched coarse projections</a:t>
            </a:r>
          </a:p>
        </p:txBody>
      </p:sp>
      <p:sp>
        <p:nvSpPr>
          <p:cNvPr id="11" name="">
            <a:extLst xmlns:a="http://schemas.openxmlformats.org/drawingml/2006/main">
              <a:ext uri="{FF2B5EF4-FFF2-40B4-BE49-F238E27FC236}">
                <a16:creationId xmlns:a16="http://schemas.microsoft.com/office/drawing/2014/main" id="{C6839F79-122D-47F5-B334-95F376AF7620}"/>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185177-4130-48BF-9363-062DE2C908CE}"/>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Unresolved</a:t>
            </a:r>
          </a:p>
        </p:txBody>
      </p:sp>
      <p:sp>
        <p:nvSpPr>
          <p:cNvPr id="13" name="">
            <a:extLst xmlns:a="http://schemas.openxmlformats.org/drawingml/2006/main">
              <a:ext uri="{FF2B5EF4-FFF2-40B4-BE49-F238E27FC236}">
                <a16:creationId xmlns:a16="http://schemas.microsoft.com/office/drawing/2014/main" id="{E53F2FEF-1F58-47B5-A4B1-D49F8F54AB2A}"/>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sub-grid residual and full hadronic-response uncertainty remain unmeasured</a:t>
            </a:r>
          </a:p>
        </p:txBody>
      </p:sp>
      <p:sp>
        <p:nvSpPr>
          <p:cNvPr id="14" name="">
            <a:extLst xmlns:a="http://schemas.openxmlformats.org/drawingml/2006/main">
              <a:ext uri="{FF2B5EF4-FFF2-40B4-BE49-F238E27FC236}">
                <a16:creationId xmlns:a16="http://schemas.microsoft.com/office/drawing/2014/main" id="{03BC7F6B-2783-4140-8166-4C15E50447BA}"/>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17</a:t>
            </a:r>
          </a:p>
        </p:txBody>
      </p:sp>
    </p:spTree>
    <p:extLst>
      <p:ext uri="{BB962C8B-B14F-4D97-AF65-F5344CB8AC3E}">
        <p14:creationId xmlns:p14="http://schemas.microsoft.com/office/powerpoint/2010/main" val="7873656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723993B-F02E-4C55-ACCF-84976A5D0D97}"/>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gives OmniFold a set of objects per event</a:t>
            </a:r>
          </a:p>
        </p:txBody>
      </p:sp>
      <p:sp>
        <p:nvSpPr>
          <p:cNvPr id="2" name="">
            <a:extLst xmlns:a="http://schemas.openxmlformats.org/drawingml/2006/main">
              <a:ext uri="{FF2B5EF4-FFF2-40B4-BE49-F238E27FC236}">
                <a16:creationId xmlns:a16="http://schemas.microsoft.com/office/drawing/2014/main" id="{E9A20371-9615-4E0B-8B30-B75B99159C8D}"/>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44FAE8-8C2E-461B-8A90-72CD0AA76E78}"/>
              </a:ext>
            </a:extLst>
          </p:cNvPr>
          <p:cNvSpPr>
            <a:spLocks xmlns:a="http://schemas.openxmlformats.org/drawingml/2006/main" noGrp="1"/>
          </p:cNvSpPr>
          <p:nvPr/>
        </p:nvSpPr>
        <p:spPr>
          <a:xfrm xmlns:a="http://schemas.openxmlformats.org/drawingml/2006/main">
            <a:off x="762000" y="17240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Detector objects</a:t>
            </a:r>
          </a:p>
        </p:txBody>
      </p:sp>
      <p:sp>
        <p:nvSpPr>
          <p:cNvPr id="4" name="">
            <a:extLst xmlns:a="http://schemas.openxmlformats.org/drawingml/2006/main">
              <a:ext uri="{FF2B5EF4-FFF2-40B4-BE49-F238E27FC236}">
                <a16:creationId xmlns:a16="http://schemas.microsoft.com/office/drawing/2014/main" id="{432F48BE-DF53-45DB-8620-56238F45806A}"/>
              </a:ext>
            </a:extLst>
          </p:cNvPr>
          <p:cNvSpPr>
            <a:spLocks xmlns:a="http://schemas.openxmlformats.org/drawingml/2006/main" noGrp="1"/>
          </p:cNvSpPr>
          <p:nvPr/>
        </p:nvSpPr>
        <p:spPr>
          <a:xfrm xmlns:a="http://schemas.openxmlformats.org/drawingml/2006/main">
            <a:off x="6953250" y="17240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87F8C"/>
                </a:solidFill>
                <a:latin typeface="Helvetica Neue"/>
                <a:ea typeface="Helvetica Neue"/>
                <a:cs typeface="Helvetica Neue"/>
              </a:defRPr>
            </a:defPPr>
          </a:lstStyle>
          <a:p xmlns:a="http://schemas.openxmlformats.org/drawingml/2006/main">
            <a:pPr>
              <a:defRPr sz="2475" b="1">
                <a:solidFill>
                  <a:srgbClr val="087F8C"/>
                </a:solidFill>
                <a:latin typeface="Helvetica Neue"/>
                <a:ea typeface="Helvetica Neue"/>
                <a:cs typeface="Helvetica Neue"/>
              </a:defRPr>
            </a:pPr>
            <a:r>
              <a:rPr sz="2475" b="1">
                <a:solidFill>
                  <a:srgbClr val="087F8C"/>
                </a:solidFill>
                <a:latin typeface="Helvetica Neue"/>
                <a:ea typeface="Helvetica Neue"/>
                <a:cs typeface="Helvetica Neue"/>
              </a:rPr>
              <a:t>Truth particles</a:t>
            </a:r>
          </a:p>
        </p:txBody>
      </p:sp>
      <p:sp>
        <p:nvSpPr>
          <p:cNvPr id="5" name="">
            <a:extLst xmlns:a="http://schemas.openxmlformats.org/drawingml/2006/main">
              <a:ext uri="{FF2B5EF4-FFF2-40B4-BE49-F238E27FC236}">
                <a16:creationId xmlns:a16="http://schemas.microsoft.com/office/drawing/2014/main" id="{EFF77E78-7415-4CBA-B049-F1375D1CD778}"/>
              </a:ext>
            </a:extLst>
          </p:cNvPr>
          <p:cNvSpPr>
            <a:spLocks xmlns:a="http://schemas.openxmlformats.org/drawingml/2006/main" noGrp="1"/>
          </p:cNvSpPr>
          <p:nvPr/>
        </p:nvSpPr>
        <p:spPr>
          <a:xfrm xmlns:a="http://schemas.openxmlformats.org/drawingml/2006/main">
            <a:off x="762000" y="2343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Energy deposits in scintillator views</a:t>
            </a:r>
          </a:p>
        </p:txBody>
      </p:sp>
      <p:sp>
        <p:nvSpPr>
          <p:cNvPr id="6" name="">
            <a:extLst xmlns:a="http://schemas.openxmlformats.org/drawingml/2006/main">
              <a:ext uri="{FF2B5EF4-FFF2-40B4-BE49-F238E27FC236}">
                <a16:creationId xmlns:a16="http://schemas.microsoft.com/office/drawing/2014/main" id="{B79D279C-B821-4417-B299-379014DA0E02}"/>
              </a:ext>
            </a:extLst>
          </p:cNvPr>
          <p:cNvSpPr>
            <a:spLocks xmlns:a="http://schemas.openxmlformats.org/drawingml/2006/main" noGrp="1"/>
          </p:cNvSpPr>
          <p:nvPr/>
        </p:nvSpPr>
        <p:spPr>
          <a:xfrm xmlns:a="http://schemas.openxmlformats.org/drawingml/2006/main">
            <a:off x="6953250" y="2343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34B"/>
                </a:solidFill>
                <a:latin typeface="Helvetica Neue"/>
                <a:ea typeface="Helvetica Neue"/>
                <a:cs typeface="Helvetica Neue"/>
              </a:defRPr>
            </a:defPPr>
          </a:lstStyle>
          <a:p xmlns:a="http://schemas.openxmlformats.org/drawingml/2006/main">
            <a:pPr>
              <a:defRPr sz="1950" b="0">
                <a:solidFill>
                  <a:srgbClr val="16334B"/>
                </a:solidFill>
                <a:latin typeface="Helvetica Neue"/>
                <a:ea typeface="Helvetica Neue"/>
                <a:cs typeface="Helvetica Neue"/>
              </a:defRPr>
            </a:pPr>
            <a:r>
              <a:rPr sz="1950" b="0">
                <a:solidFill>
                  <a:srgbClr val="16334B"/>
                </a:solidFill>
                <a:latin typeface="Helvetica Neue"/>
                <a:ea typeface="Helvetica Neue"/>
                <a:cs typeface="Helvetica Neue"/>
              </a:rPr>
              <a:t>Four-momenta and particle identity</a:t>
            </a:r>
          </a:p>
        </p:txBody>
      </p:sp>
      <p:sp>
        <p:nvSpPr>
          <p:cNvPr id="7" name="">
            <a:extLst xmlns:a="http://schemas.openxmlformats.org/drawingml/2006/main">
              <a:ext uri="{FF2B5EF4-FFF2-40B4-BE49-F238E27FC236}">
                <a16:creationId xmlns:a16="http://schemas.microsoft.com/office/drawing/2014/main" id="{2210264C-1579-4493-9DC0-6513BB90B0F2}"/>
              </a:ext>
            </a:extLst>
          </p:cNvPr>
          <p:cNvSpPr>
            <a:spLocks xmlns:a="http://schemas.openxmlformats.org/drawingml/2006/main" noGrp="1"/>
          </p:cNvSpPr>
          <p:nvPr/>
        </p:nvSpPr>
        <p:spPr>
          <a:xfrm xmlns:a="http://schemas.openxmlformats.org/drawingml/2006/main">
            <a:off x="1000125" y="3171825"/>
            <a:ext cx="266700" cy="26670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C08E51-08B9-40F3-BFE2-0B68BECAA748}"/>
              </a:ext>
            </a:extLst>
          </p:cNvPr>
          <p:cNvSpPr>
            <a:spLocks xmlns:a="http://schemas.openxmlformats.org/drawingml/2006/main" noGrp="1"/>
          </p:cNvSpPr>
          <p:nvPr/>
        </p:nvSpPr>
        <p:spPr>
          <a:xfrm xmlns:a="http://schemas.openxmlformats.org/drawingml/2006/main">
            <a:off x="7191375" y="3171825"/>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8BE7BE-CFE5-408B-B36D-5224F2E6886F}"/>
              </a:ext>
            </a:extLst>
          </p:cNvPr>
          <p:cNvSpPr>
            <a:spLocks xmlns:a="http://schemas.openxmlformats.org/drawingml/2006/main" noGrp="1"/>
          </p:cNvSpPr>
          <p:nvPr/>
        </p:nvSpPr>
        <p:spPr>
          <a:xfrm xmlns:a="http://schemas.openxmlformats.org/drawingml/2006/main">
            <a:off x="1905000" y="3171825"/>
            <a:ext cx="333375" cy="33337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788FC9-91D3-4EE3-90B0-6D85510463B1}"/>
              </a:ext>
            </a:extLst>
          </p:cNvPr>
          <p:cNvSpPr>
            <a:spLocks xmlns:a="http://schemas.openxmlformats.org/drawingml/2006/main" noGrp="1"/>
          </p:cNvSpPr>
          <p:nvPr/>
        </p:nvSpPr>
        <p:spPr>
          <a:xfrm xmlns:a="http://schemas.openxmlformats.org/drawingml/2006/main">
            <a:off x="8096250" y="3171825"/>
            <a:ext cx="352425" cy="352425"/>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1AF3DA-A662-4311-AFC1-F62FF897966A}"/>
              </a:ext>
            </a:extLst>
          </p:cNvPr>
          <p:cNvSpPr>
            <a:spLocks xmlns:a="http://schemas.openxmlformats.org/drawingml/2006/main" noGrp="1"/>
          </p:cNvSpPr>
          <p:nvPr/>
        </p:nvSpPr>
        <p:spPr>
          <a:xfrm xmlns:a="http://schemas.openxmlformats.org/drawingml/2006/main">
            <a:off x="2809875" y="3171825"/>
            <a:ext cx="400050" cy="40005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0B0F30-CD6D-4C9B-8244-CEE5A8D1DC2A}"/>
              </a:ext>
            </a:extLst>
          </p:cNvPr>
          <p:cNvSpPr>
            <a:spLocks xmlns:a="http://schemas.openxmlformats.org/drawingml/2006/main" noGrp="1"/>
          </p:cNvSpPr>
          <p:nvPr/>
        </p:nvSpPr>
        <p:spPr>
          <a:xfrm xmlns:a="http://schemas.openxmlformats.org/drawingml/2006/main">
            <a:off x="9001125" y="3171825"/>
            <a:ext cx="419100" cy="4191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5846E0-EBBF-4F5D-A734-56B48BFACB0E}"/>
              </a:ext>
            </a:extLst>
          </p:cNvPr>
          <p:cNvSpPr>
            <a:spLocks xmlns:a="http://schemas.openxmlformats.org/drawingml/2006/main" noGrp="1"/>
          </p:cNvSpPr>
          <p:nvPr/>
        </p:nvSpPr>
        <p:spPr>
          <a:xfrm xmlns:a="http://schemas.openxmlformats.org/drawingml/2006/main">
            <a:off x="3714750" y="3171825"/>
            <a:ext cx="266700" cy="26670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0AE0D5-A3BD-4FB1-AAC9-794F1403976A}"/>
              </a:ext>
            </a:extLst>
          </p:cNvPr>
          <p:cNvSpPr>
            <a:spLocks xmlns:a="http://schemas.openxmlformats.org/drawingml/2006/main" noGrp="1"/>
          </p:cNvSpPr>
          <p:nvPr/>
        </p:nvSpPr>
        <p:spPr>
          <a:xfrm xmlns:a="http://schemas.openxmlformats.org/drawingml/2006/main">
            <a:off x="9906000" y="3171825"/>
            <a:ext cx="285750" cy="285750"/>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9ECEC0-F950-4733-8720-7F27AAA70810}"/>
              </a:ext>
            </a:extLst>
          </p:cNvPr>
          <p:cNvSpPr>
            <a:spLocks xmlns:a="http://schemas.openxmlformats.org/drawingml/2006/main" noGrp="1"/>
          </p:cNvSpPr>
          <p:nvPr/>
        </p:nvSpPr>
        <p:spPr>
          <a:xfrm xmlns:a="http://schemas.openxmlformats.org/drawingml/2006/main">
            <a:off x="1000125" y="3886200"/>
            <a:ext cx="333375" cy="333375"/>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6FCECE-40DE-4ABB-84A4-5FA175B91DBC}"/>
              </a:ext>
            </a:extLst>
          </p:cNvPr>
          <p:cNvSpPr>
            <a:spLocks xmlns:a="http://schemas.openxmlformats.org/drawingml/2006/main" noGrp="1"/>
          </p:cNvSpPr>
          <p:nvPr/>
        </p:nvSpPr>
        <p:spPr>
          <a:xfrm xmlns:a="http://schemas.openxmlformats.org/drawingml/2006/main">
            <a:off x="7191375" y="3886200"/>
            <a:ext cx="352425" cy="35242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30C48A-DF29-4473-B85F-88DB56796EA5}"/>
              </a:ext>
            </a:extLst>
          </p:cNvPr>
          <p:cNvSpPr>
            <a:spLocks xmlns:a="http://schemas.openxmlformats.org/drawingml/2006/main" noGrp="1"/>
          </p:cNvSpPr>
          <p:nvPr/>
        </p:nvSpPr>
        <p:spPr>
          <a:xfrm xmlns:a="http://schemas.openxmlformats.org/drawingml/2006/main">
            <a:off x="1905000" y="3886200"/>
            <a:ext cx="400050" cy="4000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AAD8E4-B875-4AA5-AB7D-E69D1EC42525}"/>
              </a:ext>
            </a:extLst>
          </p:cNvPr>
          <p:cNvSpPr>
            <a:spLocks xmlns:a="http://schemas.openxmlformats.org/drawingml/2006/main" noGrp="1"/>
          </p:cNvSpPr>
          <p:nvPr/>
        </p:nvSpPr>
        <p:spPr>
          <a:xfrm xmlns:a="http://schemas.openxmlformats.org/drawingml/2006/main">
            <a:off x="8096250" y="3886200"/>
            <a:ext cx="419100" cy="419100"/>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76A650-9531-495C-957A-3E39012D88DF}"/>
              </a:ext>
            </a:extLst>
          </p:cNvPr>
          <p:cNvSpPr>
            <a:spLocks xmlns:a="http://schemas.openxmlformats.org/drawingml/2006/main" noGrp="1"/>
          </p:cNvSpPr>
          <p:nvPr/>
        </p:nvSpPr>
        <p:spPr>
          <a:xfrm xmlns:a="http://schemas.openxmlformats.org/drawingml/2006/main">
            <a:off x="2809875" y="3886200"/>
            <a:ext cx="266700" cy="266700"/>
          </a:xfrm>
          <a:prstGeom xmlns:a="http://schemas.openxmlformats.org/drawingml/2006/main" prst="ellipse">
            <a:avLst/>
          </a:prstGeom>
          <a:solidFill xmlns:a="http://schemas.openxmlformats.org/drawingml/2006/main">
            <a:srgbClr val="1633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480678-54BA-4C79-A1AD-F6A884E44470}"/>
              </a:ext>
            </a:extLst>
          </p:cNvPr>
          <p:cNvSpPr>
            <a:spLocks xmlns:a="http://schemas.openxmlformats.org/drawingml/2006/main" noGrp="1"/>
          </p:cNvSpPr>
          <p:nvPr/>
        </p:nvSpPr>
        <p:spPr>
          <a:xfrm xmlns:a="http://schemas.openxmlformats.org/drawingml/2006/main">
            <a:off x="9001125" y="3886200"/>
            <a:ext cx="285750" cy="285750"/>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5B6B582-C20B-4305-BD07-DDDE301E8C1F}"/>
              </a:ext>
            </a:extLst>
          </p:cNvPr>
          <p:cNvSpPr>
            <a:spLocks xmlns:a="http://schemas.openxmlformats.org/drawingml/2006/main" noGrp="1"/>
          </p:cNvSpPr>
          <p:nvPr/>
        </p:nvSpPr>
        <p:spPr>
          <a:xfrm xmlns:a="http://schemas.openxmlformats.org/drawingml/2006/main">
            <a:off x="3714750" y="3886200"/>
            <a:ext cx="333375" cy="333375"/>
          </a:xfrm>
          <a:prstGeom xmlns:a="http://schemas.openxmlformats.org/drawingml/2006/main" prst="ellipse">
            <a:avLst/>
          </a:prstGeom>
          <a:solidFill xmlns:a="http://schemas.openxmlformats.org/drawingml/2006/main">
            <a:srgbClr val="087F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565292B-0EB8-4721-AC17-98F90BA0D3AB}"/>
              </a:ext>
            </a:extLst>
          </p:cNvPr>
          <p:cNvSpPr>
            <a:spLocks xmlns:a="http://schemas.openxmlformats.org/drawingml/2006/main" noGrp="1"/>
          </p:cNvSpPr>
          <p:nvPr/>
        </p:nvSpPr>
        <p:spPr>
          <a:xfrm xmlns:a="http://schemas.openxmlformats.org/drawingml/2006/main">
            <a:off x="9906000" y="3886200"/>
            <a:ext cx="352425" cy="352425"/>
          </a:xfrm>
          <a:prstGeom xmlns:a="http://schemas.openxmlformats.org/drawingml/2006/main" prst="ellipse">
            <a:avLst/>
          </a:prstGeom>
          <a:solidFill xmlns:a="http://schemas.openxmlformats.org/drawingml/2006/main">
            <a:srgbClr val="A43B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1B58037-624B-452A-BEBB-1F8398FF46C2}"/>
              </a:ext>
            </a:extLst>
          </p:cNvPr>
          <p:cNvSpPr>
            <a:spLocks xmlns:a="http://schemas.openxmlformats.org/drawingml/2006/main" noGrp="1"/>
          </p:cNvSpPr>
          <p:nvPr/>
        </p:nvSpPr>
        <p:spPr>
          <a:xfrm xmlns:a="http://schemas.openxmlformats.org/drawingml/2006/main">
            <a:off x="952500" y="4953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6334B"/>
                </a:solidFill>
                <a:latin typeface="Helvetica Neue"/>
                <a:ea typeface="Helvetica Neue"/>
                <a:cs typeface="Helvetica Neue"/>
              </a:defRPr>
            </a:defPPr>
          </a:lstStyle>
          <a:p xmlns:a="http://schemas.openxmlformats.org/drawingml/2006/main">
            <a:pPr>
              <a:defRPr sz="2325" b="1">
                <a:solidFill>
                  <a:srgbClr val="16334B"/>
                </a:solidFill>
                <a:latin typeface="Helvetica Neue"/>
                <a:ea typeface="Helvetica Neue"/>
                <a:cs typeface="Helvetica Neue"/>
              </a:defRPr>
            </a:pPr>
            <a:r>
              <a:rPr sz="2325" b="1">
                <a:solidFill>
                  <a:srgbClr val="16334B"/>
                </a:solidFill>
                <a:latin typeface="Helvetica Neue"/>
                <a:ea typeface="Helvetica Neue"/>
                <a:cs typeface="Helvetica Neue"/>
              </a:rPr>
              <a:t>Muon event features condition the network</a:t>
            </a:r>
          </a:p>
        </p:txBody>
      </p:sp>
      <p:sp>
        <p:nvSpPr>
          <p:cNvPr id="24" name="">
            <a:extLst xmlns:a="http://schemas.openxmlformats.org/drawingml/2006/main">
              <a:ext uri="{FF2B5EF4-FFF2-40B4-BE49-F238E27FC236}">
                <a16:creationId xmlns:a16="http://schemas.microsoft.com/office/drawing/2014/main" id="{C0081E74-C736-4508-BA48-F0588803EE0E}"/>
              </a:ext>
            </a:extLst>
          </p:cNvPr>
          <p:cNvSpPr>
            <a:spLocks xmlns:a="http://schemas.openxmlformats.org/drawingml/2006/main" noGrp="1"/>
          </p:cNvSpPr>
          <p:nvPr/>
        </p:nvSpPr>
        <p:spPr>
          <a:xfrm xmlns:a="http://schemas.openxmlformats.org/drawingml/2006/main">
            <a:off x="952500" y="56483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06474"/>
                </a:solidFill>
                <a:latin typeface="Helvetica Neue"/>
                <a:ea typeface="Helvetica Neue"/>
                <a:cs typeface="Helvetica Neue"/>
              </a:defRPr>
            </a:defPPr>
          </a:lstStyle>
          <a:p xmlns:a="http://schemas.openxmlformats.org/drawingml/2006/main">
            <a:pPr>
              <a:defRPr sz="1875" b="0">
                <a:solidFill>
                  <a:srgbClr val="506474"/>
                </a:solidFill>
                <a:latin typeface="Helvetica Neue"/>
                <a:ea typeface="Helvetica Neue"/>
                <a:cs typeface="Helvetica Neue"/>
              </a:defRPr>
            </a:pPr>
            <a:r>
              <a:rPr sz="1875" b="0">
                <a:solidFill>
                  <a:srgbClr val="506474"/>
                </a:solidFill>
                <a:latin typeface="Helvetica Neue"/>
                <a:ea typeface="Helvetica Neue"/>
                <a:cs typeface="Helvetica Neue"/>
              </a:rPr>
              <a:t>Attention learns object relationships; stored clouds retain at most 12 tokens</a:t>
            </a:r>
          </a:p>
        </p:txBody>
      </p:sp>
      <p:sp>
        <p:nvSpPr>
          <p:cNvPr id="25" name="">
            <a:extLst xmlns:a="http://schemas.openxmlformats.org/drawingml/2006/main">
              <a:ext uri="{FF2B5EF4-FFF2-40B4-BE49-F238E27FC236}">
                <a16:creationId xmlns:a16="http://schemas.microsoft.com/office/drawing/2014/main" id="{EFFBE689-3EE8-4843-8308-0376FF2E4E46}"/>
              </a:ext>
            </a:extLst>
          </p:cNvPr>
          <p:cNvSpPr>
            <a:spLocks xmlns:a="http://schemas.openxmlformats.org/drawingml/2006/main" noGrp="1"/>
          </p:cNvSpPr>
          <p:nvPr/>
        </p:nvSpPr>
        <p:spPr>
          <a:xfrm xmlns:a="http://schemas.openxmlformats.org/drawingml/2006/main">
            <a:off x="5905500" y="1905000"/>
            <a:ext cx="19050" cy="2476500"/>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80E6E1-4DC5-48D7-8312-24DCC42D2A77}"/>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Historical recoil-only PET and the later full-event candidate have different input contracts</a:t>
            </a:r>
          </a:p>
        </p:txBody>
      </p:sp>
      <p:sp>
        <p:nvSpPr>
          <p:cNvPr id="27" name="">
            <a:extLst xmlns:a="http://schemas.openxmlformats.org/drawingml/2006/main">
              <a:ext uri="{FF2B5EF4-FFF2-40B4-BE49-F238E27FC236}">
                <a16:creationId xmlns:a16="http://schemas.microsoft.com/office/drawing/2014/main" id="{14E00045-ABDC-4F4B-9725-480D57CC1CFF}"/>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18</a:t>
            </a:r>
          </a:p>
        </p:txBody>
      </p:sp>
    </p:spTree>
    <p:extLst>
      <p:ext uri="{BB962C8B-B14F-4D97-AF65-F5344CB8AC3E}">
        <p14:creationId xmlns:p14="http://schemas.microsoft.com/office/powerpoint/2010/main" val="8071512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3C0CB3-5B00-44A9-A09C-C453A4F9101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earlier PET covariance did not qualify</a:t>
            </a:r>
          </a:p>
        </p:txBody>
      </p:sp>
      <p:sp>
        <p:nvSpPr>
          <p:cNvPr id="2" name="">
            <a:extLst xmlns:a="http://schemas.openxmlformats.org/drawingml/2006/main">
              <a:ext uri="{FF2B5EF4-FFF2-40B4-BE49-F238E27FC236}">
                <a16:creationId xmlns:a16="http://schemas.microsoft.com/office/drawing/2014/main" id="{CDEB0394-57F4-4F87-A4C1-4E5D426B9C15}"/>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2AAA49-109D-4C0E-8C47-C13840193571}"/>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Central/statistical pairing</a:t>
            </a:r>
          </a:p>
        </p:txBody>
      </p:sp>
      <p:sp>
        <p:nvSpPr>
          <p:cNvPr id="4" name="">
            <a:extLst xmlns:a="http://schemas.openxmlformats.org/drawingml/2006/main">
              <a:ext uri="{FF2B5EF4-FFF2-40B4-BE49-F238E27FC236}">
                <a16:creationId xmlns:a16="http://schemas.microsoft.com/office/drawing/2014/main" id="{C8874ABF-FECD-4987-A792-799FF44FD0F2}"/>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Declined in August. A 50-member covariance exists but remains unverified</a:t>
            </a:r>
          </a:p>
        </p:txBody>
      </p:sp>
      <p:sp>
        <p:nvSpPr>
          <p:cNvPr id="5" name="">
            <a:extLst xmlns:a="http://schemas.openxmlformats.org/drawingml/2006/main">
              <a:ext uri="{FF2B5EF4-FFF2-40B4-BE49-F238E27FC236}">
                <a16:creationId xmlns:a16="http://schemas.microsoft.com/office/drawing/2014/main" id="{8BD70216-73C8-44E2-AD0B-C335DF51A17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3AF14C-C699-42F4-9FAA-7A223713F81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Observed anomaly</a:t>
            </a:r>
          </a:p>
        </p:txBody>
      </p:sp>
      <p:sp>
        <p:nvSpPr>
          <p:cNvPr id="7" name="">
            <a:extLst xmlns:a="http://schemas.openxmlformats.org/drawingml/2006/main">
              <a:ext uri="{FF2B5EF4-FFF2-40B4-BE49-F238E27FC236}">
                <a16:creationId xmlns:a16="http://schemas.microsoft.com/office/drawing/2014/main" id="{2C8847BE-D8F9-491C-B437-13B1D91D7A91}"/>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Nominal result lies outside its bootstrap family. Mechanism unresolved</a:t>
            </a:r>
          </a:p>
        </p:txBody>
      </p:sp>
      <p:sp>
        <p:nvSpPr>
          <p:cNvPr id="8" name="">
            <a:extLst xmlns:a="http://schemas.openxmlformats.org/drawingml/2006/main">
              <a:ext uri="{FF2B5EF4-FFF2-40B4-BE49-F238E27FC236}">
                <a16:creationId xmlns:a16="http://schemas.microsoft.com/office/drawing/2014/main" id="{8A3A65DD-5730-415A-A20C-C74BBD4C748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98C055-19B5-4586-8BD4-9098CAE9551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Training variation</a:t>
            </a:r>
          </a:p>
        </p:txBody>
      </p:sp>
      <p:sp>
        <p:nvSpPr>
          <p:cNvPr id="10" name="">
            <a:extLst xmlns:a="http://schemas.openxmlformats.org/drawingml/2006/main">
              <a:ext uri="{FF2B5EF4-FFF2-40B4-BE49-F238E27FC236}">
                <a16:creationId xmlns:a16="http://schemas.microsoft.com/office/drawing/2014/main" id="{4EBF98E0-DAF0-4DAD-AFA4-4B4D059D2C85}"/>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full-event machine-learning covariance constructed. Gate 6 blocked</a:t>
            </a:r>
          </a:p>
        </p:txBody>
      </p:sp>
      <p:sp>
        <p:nvSpPr>
          <p:cNvPr id="11" name="">
            <a:extLst xmlns:a="http://schemas.openxmlformats.org/drawingml/2006/main">
              <a:ext uri="{FF2B5EF4-FFF2-40B4-BE49-F238E27FC236}">
                <a16:creationId xmlns:a16="http://schemas.microsoft.com/office/drawing/2014/main" id="{FA404AD0-1AC6-4D2C-852F-5B08F3A1BCA1}"/>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18DE6A-81B9-4C9B-8B4D-2D7003853BD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scope</a:t>
            </a:r>
          </a:p>
        </p:txBody>
      </p:sp>
      <p:sp>
        <p:nvSpPr>
          <p:cNvPr id="13" name="">
            <a:extLst xmlns:a="http://schemas.openxmlformats.org/drawingml/2006/main">
              <a:ext uri="{FF2B5EF4-FFF2-40B4-BE49-F238E27FC236}">
                <a16:creationId xmlns:a16="http://schemas.microsoft.com/office/drawing/2014/main" id="{7664F35C-95C9-4D07-B091-7963BC7C7474}"/>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Diagnostic and method development throughout</a:t>
            </a:r>
          </a:p>
        </p:txBody>
      </p:sp>
      <p:sp>
        <p:nvSpPr>
          <p:cNvPr id="14" name="">
            <a:extLst xmlns:a="http://schemas.openxmlformats.org/drawingml/2006/main">
              <a:ext uri="{FF2B5EF4-FFF2-40B4-BE49-F238E27FC236}">
                <a16:creationId xmlns:a16="http://schemas.microsoft.com/office/drawing/2014/main" id="{F144C6D6-8E30-4FE0-8863-F13D77C5A00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19</a:t>
            </a:r>
          </a:p>
        </p:txBody>
      </p:sp>
    </p:spTree>
    <p:extLst>
      <p:ext uri="{BB962C8B-B14F-4D97-AF65-F5344CB8AC3E}">
        <p14:creationId xmlns:p14="http://schemas.microsoft.com/office/powerpoint/2010/main" val="16944360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F3B8F2-A36D-470C-B1F6-25B58D2D2EB4}"/>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recovery improved substantially in simulation</a:t>
            </a:r>
          </a:p>
        </p:txBody>
      </p:sp>
      <p:sp>
        <p:nvSpPr>
          <p:cNvPr id="2" name="">
            <a:extLst xmlns:a="http://schemas.openxmlformats.org/drawingml/2006/main">
              <a:ext uri="{FF2B5EF4-FFF2-40B4-BE49-F238E27FC236}">
                <a16:creationId xmlns:a16="http://schemas.microsoft.com/office/drawing/2014/main" id="{A59B87EF-4003-4B68-B69A-DADBABB9A519}"/>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B26891-0D3F-4375-88EB-59C947B91425}"/>
              </a:ext>
            </a:extLst>
          </p:cNvPr>
          <p:cNvSpPr>
            <a:spLocks xmlns:a="http://schemas.openxmlformats.org/drawingml/2006/main" noGrp="1"/>
          </p:cNvSpPr>
          <p:nvPr/>
        </p:nvSpPr>
        <p:spPr>
          <a:xfrm xmlns:a="http://schemas.openxmlformats.org/drawingml/2006/main">
            <a:off x="666750" y="16859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06474"/>
                </a:solidFill>
                <a:latin typeface="Helvetica Neue"/>
                <a:ea typeface="Helvetica Neue"/>
                <a:cs typeface="Helvetica Neue"/>
              </a:defRPr>
            </a:defPPr>
          </a:lstStyle>
          <a:p xmlns:a="http://schemas.openxmlformats.org/drawingml/2006/main">
            <a:pPr>
              <a:defRPr sz="2175" b="0">
                <a:solidFill>
                  <a:srgbClr val="506474"/>
                </a:solidFill>
                <a:latin typeface="Helvetica Neue"/>
                <a:ea typeface="Helvetica Neue"/>
                <a:cs typeface="Helvetica Neue"/>
              </a:defRPr>
            </a:pPr>
            <a:r>
              <a:rPr sz="2175" b="0">
                <a:solidFill>
                  <a:srgbClr val="506474"/>
                </a:solidFill>
                <a:latin typeface="Helvetica Neue"/>
                <a:ea typeface="Helvetica Neue"/>
                <a:cs typeface="Helvetica Neue"/>
              </a:rPr>
              <a:t>Fraction of injected Eavail tilt recovered</a:t>
            </a:r>
          </a:p>
        </p:txBody>
      </p:sp>
      <p:sp>
        <p:nvSpPr>
          <p:cNvPr id="4" name="">
            <a:extLst xmlns:a="http://schemas.openxmlformats.org/drawingml/2006/main">
              <a:ext uri="{FF2B5EF4-FFF2-40B4-BE49-F238E27FC236}">
                <a16:creationId xmlns:a16="http://schemas.microsoft.com/office/drawing/2014/main" id="{AC9BF13F-79EF-4755-9470-952528161D55}"/>
              </a:ext>
            </a:extLst>
          </p:cNvPr>
          <p:cNvSpPr>
            <a:spLocks xmlns:a="http://schemas.openxmlformats.org/drawingml/2006/main" noGrp="1"/>
          </p:cNvSpPr>
          <p:nvPr/>
        </p:nvSpPr>
        <p:spPr>
          <a:xfrm xmlns:a="http://schemas.openxmlformats.org/drawingml/2006/main">
            <a:off x="666750" y="25527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Historical control</a:t>
            </a:r>
          </a:p>
        </p:txBody>
      </p:sp>
      <p:sp>
        <p:nvSpPr>
          <p:cNvPr id="5" name="">
            <a:extLst xmlns:a="http://schemas.openxmlformats.org/drawingml/2006/main">
              <a:ext uri="{FF2B5EF4-FFF2-40B4-BE49-F238E27FC236}">
                <a16:creationId xmlns:a16="http://schemas.microsoft.com/office/drawing/2014/main" id="{72885758-EF25-4F62-86BA-25612F9E0881}"/>
              </a:ext>
            </a:extLst>
          </p:cNvPr>
          <p:cNvSpPr>
            <a:spLocks xmlns:a="http://schemas.openxmlformats.org/drawingml/2006/main" noGrp="1"/>
          </p:cNvSpPr>
          <p:nvPr/>
        </p:nvSpPr>
        <p:spPr>
          <a:xfrm xmlns:a="http://schemas.openxmlformats.org/drawingml/2006/main">
            <a:off x="4476750" y="255270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F6887D-B6E7-44A8-821D-8E05ECD30569}"/>
              </a:ext>
            </a:extLst>
          </p:cNvPr>
          <p:cNvSpPr>
            <a:spLocks xmlns:a="http://schemas.openxmlformats.org/drawingml/2006/main" noGrp="1"/>
          </p:cNvSpPr>
          <p:nvPr/>
        </p:nvSpPr>
        <p:spPr>
          <a:xfrm xmlns:a="http://schemas.openxmlformats.org/drawingml/2006/main">
            <a:off x="4476750" y="2552700"/>
            <a:ext cx="1894523" cy="381000"/>
          </a:xfrm>
          <a:prstGeom xmlns:a="http://schemas.openxmlformats.org/drawingml/2006/main" prst="rect">
            <a:avLst/>
          </a:prstGeom>
          <a:solidFill xmlns:a="http://schemas.openxmlformats.org/drawingml/2006/main">
            <a:srgbClr val="50647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0226B7-BF03-49C8-80C0-AD1EBC16365B}"/>
              </a:ext>
            </a:extLst>
          </p:cNvPr>
          <p:cNvSpPr>
            <a:spLocks xmlns:a="http://schemas.openxmlformats.org/drawingml/2006/main" noGrp="1"/>
          </p:cNvSpPr>
          <p:nvPr/>
        </p:nvSpPr>
        <p:spPr>
          <a:xfrm xmlns:a="http://schemas.openxmlformats.org/drawingml/2006/main">
            <a:off x="10858500" y="2524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0.306</a:t>
            </a:r>
          </a:p>
        </p:txBody>
      </p:sp>
      <p:sp>
        <p:nvSpPr>
          <p:cNvPr id="8" name="">
            <a:extLst xmlns:a="http://schemas.openxmlformats.org/drawingml/2006/main">
              <a:ext uri="{FF2B5EF4-FFF2-40B4-BE49-F238E27FC236}">
                <a16:creationId xmlns:a16="http://schemas.microsoft.com/office/drawing/2014/main" id="{CB6B13AA-8EEC-4067-A15D-7DAAA7AE0523}"/>
              </a:ext>
            </a:extLst>
          </p:cNvPr>
          <p:cNvSpPr>
            <a:spLocks xmlns:a="http://schemas.openxmlformats.org/drawingml/2006/main" noGrp="1"/>
          </p:cNvSpPr>
          <p:nvPr/>
        </p:nvSpPr>
        <p:spPr>
          <a:xfrm xmlns:a="http://schemas.openxmlformats.org/drawingml/2006/main">
            <a:off x="666750" y="35337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Compact hybrid finalist</a:t>
            </a:r>
          </a:p>
        </p:txBody>
      </p:sp>
      <p:sp>
        <p:nvSpPr>
          <p:cNvPr id="9" name="">
            <a:extLst xmlns:a="http://schemas.openxmlformats.org/drawingml/2006/main">
              <a:ext uri="{FF2B5EF4-FFF2-40B4-BE49-F238E27FC236}">
                <a16:creationId xmlns:a16="http://schemas.microsoft.com/office/drawing/2014/main" id="{3CF5C932-A3E8-48B6-B734-A821CFF9A443}"/>
              </a:ext>
            </a:extLst>
          </p:cNvPr>
          <p:cNvSpPr>
            <a:spLocks xmlns:a="http://schemas.openxmlformats.org/drawingml/2006/main" noGrp="1"/>
          </p:cNvSpPr>
          <p:nvPr/>
        </p:nvSpPr>
        <p:spPr>
          <a:xfrm xmlns:a="http://schemas.openxmlformats.org/drawingml/2006/main">
            <a:off x="4476750" y="3533775"/>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A6ACF8-7106-4EE8-AB85-31FF28E49F93}"/>
              </a:ext>
            </a:extLst>
          </p:cNvPr>
          <p:cNvSpPr>
            <a:spLocks xmlns:a="http://schemas.openxmlformats.org/drawingml/2006/main" noGrp="1"/>
          </p:cNvSpPr>
          <p:nvPr/>
        </p:nvSpPr>
        <p:spPr>
          <a:xfrm xmlns:a="http://schemas.openxmlformats.org/drawingml/2006/main">
            <a:off x="4476750" y="3533775"/>
            <a:ext cx="554116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F6BC1C-9646-4D06-9946-D5BD0FB36EAC}"/>
              </a:ext>
            </a:extLst>
          </p:cNvPr>
          <p:cNvSpPr>
            <a:spLocks xmlns:a="http://schemas.openxmlformats.org/drawingml/2006/main" noGrp="1"/>
          </p:cNvSpPr>
          <p:nvPr/>
        </p:nvSpPr>
        <p:spPr>
          <a:xfrm xmlns:a="http://schemas.openxmlformats.org/drawingml/2006/main">
            <a:off x="10858500" y="35052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0.895</a:t>
            </a:r>
          </a:p>
        </p:txBody>
      </p:sp>
      <p:sp>
        <p:nvSpPr>
          <p:cNvPr id="12" name="">
            <a:extLst xmlns:a="http://schemas.openxmlformats.org/drawingml/2006/main">
              <a:ext uri="{FF2B5EF4-FFF2-40B4-BE49-F238E27FC236}">
                <a16:creationId xmlns:a16="http://schemas.microsoft.com/office/drawing/2014/main" id="{1CABEF3A-A3EF-4010-9E09-B6416F0A72FC}"/>
              </a:ext>
            </a:extLst>
          </p:cNvPr>
          <p:cNvSpPr>
            <a:spLocks xmlns:a="http://schemas.openxmlformats.org/drawingml/2006/main" noGrp="1"/>
          </p:cNvSpPr>
          <p:nvPr/>
        </p:nvSpPr>
        <p:spPr>
          <a:xfrm xmlns:a="http://schemas.openxmlformats.org/drawingml/2006/main">
            <a:off x="666750" y="45148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34B"/>
                </a:solidFill>
                <a:latin typeface="Helvetica Neue"/>
                <a:ea typeface="Helvetica Neue"/>
                <a:cs typeface="Helvetica Neue"/>
              </a:defRPr>
            </a:defPPr>
          </a:lstStyle>
          <a:p xmlns:a="http://schemas.openxmlformats.org/drawingml/2006/main">
            <a:pPr>
              <a:defRPr sz="2025" b="0">
                <a:solidFill>
                  <a:srgbClr val="16334B"/>
                </a:solidFill>
                <a:latin typeface="Helvetica Neue"/>
                <a:ea typeface="Helvetica Neue"/>
                <a:cs typeface="Helvetica Neue"/>
              </a:defRPr>
            </a:pPr>
            <a:r>
              <a:rPr sz="2025" b="0">
                <a:solidFill>
                  <a:srgbClr val="16334B"/>
                </a:solidFill>
                <a:latin typeface="Helvetica Neue"/>
                <a:ea typeface="Helvetica Neue"/>
                <a:cs typeface="Helvetica Neue"/>
              </a:rPr>
              <a:t>Larger hybrid finalist</a:t>
            </a:r>
          </a:p>
        </p:txBody>
      </p:sp>
      <p:sp>
        <p:nvSpPr>
          <p:cNvPr id="13" name="">
            <a:extLst xmlns:a="http://schemas.openxmlformats.org/drawingml/2006/main">
              <a:ext uri="{FF2B5EF4-FFF2-40B4-BE49-F238E27FC236}">
                <a16:creationId xmlns:a16="http://schemas.microsoft.com/office/drawing/2014/main" id="{47581B0A-D6B7-4148-A0F9-5A49ED8B99DC}"/>
              </a:ext>
            </a:extLst>
          </p:cNvPr>
          <p:cNvSpPr>
            <a:spLocks xmlns:a="http://schemas.openxmlformats.org/drawingml/2006/main" noGrp="1"/>
          </p:cNvSpPr>
          <p:nvPr/>
        </p:nvSpPr>
        <p:spPr>
          <a:xfrm xmlns:a="http://schemas.openxmlformats.org/drawingml/2006/main">
            <a:off x="4476750" y="4514850"/>
            <a:ext cx="6191250" cy="38100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6E2B43-54E2-41A5-AB19-7EC861E66878}"/>
              </a:ext>
            </a:extLst>
          </p:cNvPr>
          <p:cNvSpPr>
            <a:spLocks xmlns:a="http://schemas.openxmlformats.org/drawingml/2006/main" noGrp="1"/>
          </p:cNvSpPr>
          <p:nvPr/>
        </p:nvSpPr>
        <p:spPr>
          <a:xfrm xmlns:a="http://schemas.openxmlformats.org/drawingml/2006/main">
            <a:off x="4476750" y="4514850"/>
            <a:ext cx="5343049" cy="3810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F6E435-0843-44DD-A4D9-39BCE89F0934}"/>
              </a:ext>
            </a:extLst>
          </p:cNvPr>
          <p:cNvSpPr>
            <a:spLocks xmlns:a="http://schemas.openxmlformats.org/drawingml/2006/main" noGrp="1"/>
          </p:cNvSpPr>
          <p:nvPr/>
        </p:nvSpPr>
        <p:spPr>
          <a:xfrm xmlns:a="http://schemas.openxmlformats.org/drawingml/2006/main">
            <a:off x="10858500" y="44862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34B"/>
                </a:solidFill>
                <a:latin typeface="Helvetica Neue"/>
                <a:ea typeface="Helvetica Neue"/>
                <a:cs typeface="Helvetica Neue"/>
              </a:defRPr>
            </a:defPPr>
          </a:lstStyle>
          <a:p xmlns:a="http://schemas.openxmlformats.org/drawingml/2006/main">
            <a:pPr>
              <a:defRPr sz="2100" b="1">
                <a:solidFill>
                  <a:srgbClr val="16334B"/>
                </a:solidFill>
                <a:latin typeface="Helvetica Neue"/>
                <a:ea typeface="Helvetica Neue"/>
                <a:cs typeface="Helvetica Neue"/>
              </a:defRPr>
            </a:pPr>
            <a:r>
              <a:rPr sz="2100" b="1">
                <a:solidFill>
                  <a:srgbClr val="16334B"/>
                </a:solidFill>
                <a:latin typeface="Helvetica Neue"/>
                <a:ea typeface="Helvetica Neue"/>
                <a:cs typeface="Helvetica Neue"/>
              </a:rPr>
              <a:t>0.863</a:t>
            </a:r>
          </a:p>
        </p:txBody>
      </p:sp>
      <p:sp>
        <p:nvSpPr>
          <p:cNvPr id="16" name="">
            <a:extLst xmlns:a="http://schemas.openxmlformats.org/drawingml/2006/main">
              <a:ext uri="{FF2B5EF4-FFF2-40B4-BE49-F238E27FC236}">
                <a16:creationId xmlns:a16="http://schemas.microsoft.com/office/drawing/2014/main" id="{2057D86F-D792-4533-828E-39064E45BE4F}"/>
              </a:ext>
            </a:extLst>
          </p:cNvPr>
          <p:cNvSpPr>
            <a:spLocks xmlns:a="http://schemas.openxmlformats.org/drawingml/2006/main" noGrp="1"/>
          </p:cNvSpPr>
          <p:nvPr/>
        </p:nvSpPr>
        <p:spPr>
          <a:xfrm xmlns:a="http://schemas.openxmlformats.org/drawingml/2006/main">
            <a:off x="4438650" y="55149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0</a:t>
            </a:r>
          </a:p>
        </p:txBody>
      </p:sp>
      <p:sp>
        <p:nvSpPr>
          <p:cNvPr id="17" name="">
            <a:extLst xmlns:a="http://schemas.openxmlformats.org/drawingml/2006/main">
              <a:ext uri="{FF2B5EF4-FFF2-40B4-BE49-F238E27FC236}">
                <a16:creationId xmlns:a16="http://schemas.microsoft.com/office/drawing/2014/main" id="{E4E57DAA-1D27-437C-826E-B97C5DB0C0A3}"/>
              </a:ext>
            </a:extLst>
          </p:cNvPr>
          <p:cNvSpPr>
            <a:spLocks xmlns:a="http://schemas.openxmlformats.org/drawingml/2006/main" noGrp="1"/>
          </p:cNvSpPr>
          <p:nvPr/>
        </p:nvSpPr>
        <p:spPr>
          <a:xfrm xmlns:a="http://schemas.openxmlformats.org/drawingml/2006/main">
            <a:off x="9163050" y="55149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06474"/>
                </a:solidFill>
                <a:latin typeface="Helvetica Neue"/>
                <a:ea typeface="Helvetica Neue"/>
                <a:cs typeface="Helvetica Neue"/>
              </a:defRPr>
            </a:defPPr>
          </a:lstStyle>
          <a:p xmlns:a="http://schemas.openxmlformats.org/drawingml/2006/main">
            <a:pPr>
              <a:defRPr sz="1575" b="0">
                <a:solidFill>
                  <a:srgbClr val="506474"/>
                </a:solidFill>
                <a:latin typeface="Helvetica Neue"/>
                <a:ea typeface="Helvetica Neue"/>
                <a:cs typeface="Helvetica Neue"/>
              </a:defRPr>
            </a:pPr>
            <a:r>
              <a:rPr sz="1575" b="0">
                <a:solidFill>
                  <a:srgbClr val="506474"/>
                </a:solidFill>
                <a:latin typeface="Helvetica Neue"/>
                <a:ea typeface="Helvetica Neue"/>
                <a:cs typeface="Helvetica Neue"/>
              </a:rPr>
              <a:t>1 = exact recovery</a:t>
            </a:r>
          </a:p>
        </p:txBody>
      </p:sp>
      <p:sp>
        <p:nvSpPr>
          <p:cNvPr id="18" name="">
            <a:extLst xmlns:a="http://schemas.openxmlformats.org/drawingml/2006/main">
              <a:ext uri="{FF2B5EF4-FFF2-40B4-BE49-F238E27FC236}">
                <a16:creationId xmlns:a16="http://schemas.microsoft.com/office/drawing/2014/main" id="{D33E8104-F76D-403F-8EC0-F7CFCA8F0319}"/>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Final-bank Eavail tilt, 60 draws. R = 1 is exact recovery, R = 0 retains the prior discrepancy</a:t>
            </a:r>
          </a:p>
        </p:txBody>
      </p:sp>
      <p:sp>
        <p:nvSpPr>
          <p:cNvPr id="19" name="">
            <a:extLst xmlns:a="http://schemas.openxmlformats.org/drawingml/2006/main">
              <a:ext uri="{FF2B5EF4-FFF2-40B4-BE49-F238E27FC236}">
                <a16:creationId xmlns:a16="http://schemas.microsoft.com/office/drawing/2014/main" id="{5501F230-9D8F-4F36-86B3-DB9C8B817DF6}"/>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20</a:t>
            </a:r>
          </a:p>
        </p:txBody>
      </p:sp>
    </p:spTree>
    <p:extLst>
      <p:ext uri="{BB962C8B-B14F-4D97-AF65-F5344CB8AC3E}">
        <p14:creationId xmlns:p14="http://schemas.microsoft.com/office/powerpoint/2010/main" val="3493868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F38B31-7493-46C0-862F-72322122A8DA}"/>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PET intervals fail differently across acceptance regions</a:t>
            </a:r>
          </a:p>
        </p:txBody>
      </p:sp>
      <p:sp>
        <p:nvSpPr>
          <p:cNvPr id="2" name="">
            <a:extLst xmlns:a="http://schemas.openxmlformats.org/drawingml/2006/main">
              <a:ext uri="{FF2B5EF4-FFF2-40B4-BE49-F238E27FC236}">
                <a16:creationId xmlns:a16="http://schemas.microsoft.com/office/drawing/2014/main" id="{40985547-128F-4DB9-A85C-0E46F32050DF}"/>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8DED5ECA-2D25-4550-8E00-41930E5D8695}"/>
              </a:ext>
            </a:extLst>
          </p:cNvPr>
          <p:cNvGraphicFramePr/>
          <p:nvPr/>
        </p:nvGraphicFramePr>
        <p:xfrm>
          <a:off xmlns:a="http://schemas.openxmlformats.org/drawingml/2006/main" x="666750" y="1762125"/>
          <a:ext xmlns:a="http://schemas.openxmlformats.org/drawingml/2006/main" cx="10858500" cy="3476625"/>
        </p:xfrm>
        <a:graphic xmlns:a="http://schemas.openxmlformats.org/drawingml/2006/main">
          <a:graphicData uri="http://schemas.openxmlformats.org/drawingml/2006/table">
            <a:tbl>
              <a:tblPr/>
              <a:tblGrid>
                <a:gridCol w="5334000"/>
                <a:gridCol w="2762250"/>
                <a:gridCol w="2762250"/>
              </a:tblGrid>
              <a:tr h="695325">
                <a:tc>
                  <a:txBody>
                    <a:bodyPr/>
                    <a:lstStyle/>
                    <a:p>
                      <a:r>
                        <a:rPr sz="2025" b="1">
                          <a:solidFill>
                            <a:srgbClr val="FFFFFF"/>
                          </a:solidFill>
                          <a:latin typeface="Helvetica Neue"/>
                          <a:ea typeface="Helvetica Neue"/>
                          <a:cs typeface="Helvetica Neue"/>
                        </a:rPr>
                        <a:t>Region</a:t>
                      </a:r>
                    </a:p>
                  </a:txBody>
                  <a:tcPr marL="91440" marR="91440" marT="45720" marB="45720">
                    <a:solidFill>
                      <a:srgbClr val="16334B"/>
                    </a:solidFill>
                  </a:tcPr>
                </a:tc>
                <a:tc>
                  <a:txBody>
                    <a:bodyPr/>
                    <a:lstStyle/>
                    <a:p>
                      <a:r>
                        <a:rPr sz="2025" b="1">
                          <a:solidFill>
                            <a:srgbClr val="FFFFFF"/>
                          </a:solidFill>
                          <a:latin typeface="Helvetica Neue"/>
                          <a:ea typeface="Helvetica Neue"/>
                          <a:cs typeface="Helvetica Neue"/>
                        </a:rPr>
                        <a:t>Nominal 68%</a:t>
                      </a:r>
                    </a:p>
                  </a:txBody>
                  <a:tcPr marL="91440" marR="91440" marT="45720" marB="45720">
                    <a:solidFill>
                      <a:srgbClr val="16334B"/>
                    </a:solidFill>
                  </a:tcPr>
                </a:tc>
                <a:tc>
                  <a:txBody>
                    <a:bodyPr/>
                    <a:lstStyle/>
                    <a:p>
                      <a:r>
                        <a:rPr sz="2025" b="1">
                          <a:solidFill>
                            <a:srgbClr val="FFFFFF"/>
                          </a:solidFill>
                          <a:latin typeface="Helvetica Neue"/>
                          <a:ea typeface="Helvetica Neue"/>
                          <a:cs typeface="Helvetica Neue"/>
                        </a:rPr>
                        <a:t>Nominal 95%</a:t>
                      </a:r>
                    </a:p>
                  </a:txBody>
                  <a:tcPr marL="91440" marR="91440" marT="45720" marB="45720">
                    <a:solidFill>
                      <a:srgbClr val="16334B"/>
                    </a:solidFill>
                  </a:tcPr>
                </a:tc>
              </a:tr>
              <a:tr h="695325">
                <a:tc>
                  <a:txBody>
                    <a:bodyPr/>
                    <a:lstStyle/>
                    <a:p>
                      <a:r>
                        <a:rPr sz="2250" b="0">
                          <a:solidFill>
                            <a:srgbClr val="16334B"/>
                          </a:solidFill>
                          <a:latin typeface="Helvetica Neue"/>
                          <a:ea typeface="Helvetica Neue"/>
                          <a:cs typeface="Helvetica Neue"/>
                        </a:rPr>
                        <a:t>Aggregate Eavail</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89.6%</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99.0%</a:t>
                      </a:r>
                    </a:p>
                  </a:txBody>
                  <a:tcPr marL="91440" marR="91440" marT="45720" marB="45720">
                    <a:solidFill>
                      <a:srgbClr val="EDF4F6"/>
                    </a:solidFill>
                  </a:tcPr>
                </a:tc>
              </a:tr>
              <a:tr h="695325">
                <a:tc>
                  <a:txBody>
                    <a:bodyPr/>
                    <a:lstStyle/>
                    <a:p>
                      <a:r>
                        <a:rPr sz="2250" b="1">
                          <a:solidFill>
                            <a:srgbClr val="A43B32"/>
                          </a:solidFill>
                          <a:latin typeface="Helvetica Neue"/>
                          <a:ea typeface="Helvetica Neue"/>
                          <a:cs typeface="Helvetica Neue"/>
                        </a:rPr>
                        <a:t>Low acceptance</a:t>
                      </a:r>
                    </a:p>
                  </a:txBody>
                  <a:tcPr marL="91440" marR="91440" marT="45720" marB="45720">
                    <a:solidFill>
                      <a:srgbClr val="FAEAE7"/>
                    </a:solidFill>
                  </a:tcPr>
                </a:tc>
                <a:tc>
                  <a:txBody>
                    <a:bodyPr/>
                    <a:lstStyle/>
                    <a:p>
                      <a:r>
                        <a:rPr sz="2250" b="1">
                          <a:solidFill>
                            <a:srgbClr val="A43B32"/>
                          </a:solidFill>
                          <a:latin typeface="Helvetica Neue"/>
                          <a:ea typeface="Helvetica Neue"/>
                          <a:cs typeface="Helvetica Neue"/>
                        </a:rPr>
                        <a:t>25.7%</a:t>
                      </a:r>
                    </a:p>
                  </a:txBody>
                  <a:tcPr marL="91440" marR="91440" marT="45720" marB="45720">
                    <a:solidFill>
                      <a:srgbClr val="FAEAE7"/>
                    </a:solidFill>
                  </a:tcPr>
                </a:tc>
                <a:tc>
                  <a:txBody>
                    <a:bodyPr/>
                    <a:lstStyle/>
                    <a:p>
                      <a:r>
                        <a:rPr sz="2250" b="1">
                          <a:solidFill>
                            <a:srgbClr val="A43B32"/>
                          </a:solidFill>
                          <a:latin typeface="Helvetica Neue"/>
                          <a:ea typeface="Helvetica Neue"/>
                          <a:cs typeface="Helvetica Neue"/>
                        </a:rPr>
                        <a:t>78.9%</a:t>
                      </a:r>
                    </a:p>
                  </a:txBody>
                  <a:tcPr marL="91440" marR="91440" marT="45720" marB="45720">
                    <a:solidFill>
                      <a:srgbClr val="FAEAE7"/>
                    </a:solidFill>
                  </a:tcPr>
                </a:tc>
              </a:tr>
              <a:tr h="695325">
                <a:tc>
                  <a:txBody>
                    <a:bodyPr/>
                    <a:lstStyle/>
                    <a:p>
                      <a:r>
                        <a:rPr sz="2250" b="0">
                          <a:solidFill>
                            <a:srgbClr val="16334B"/>
                          </a:solidFill>
                          <a:latin typeface="Helvetica Neue"/>
                          <a:ea typeface="Helvetica Neue"/>
                          <a:cs typeface="Helvetica Neue"/>
                        </a:rPr>
                        <a:t>Moderate acceptance</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70.1%</a:t>
                      </a:r>
                    </a:p>
                  </a:txBody>
                  <a:tcPr marL="91440" marR="91440" marT="45720" marB="45720">
                    <a:solidFill>
                      <a:srgbClr val="EDF4F6"/>
                    </a:solidFill>
                  </a:tcPr>
                </a:tc>
                <a:tc>
                  <a:txBody>
                    <a:bodyPr/>
                    <a:lstStyle/>
                    <a:p>
                      <a:r>
                        <a:rPr sz="2250" b="0">
                          <a:solidFill>
                            <a:srgbClr val="16334B"/>
                          </a:solidFill>
                          <a:latin typeface="Helvetica Neue"/>
                          <a:ea typeface="Helvetica Neue"/>
                          <a:cs typeface="Helvetica Neue"/>
                        </a:rPr>
                        <a:t>96.4%</a:t>
                      </a:r>
                    </a:p>
                  </a:txBody>
                  <a:tcPr marL="91440" marR="91440" marT="45720" marB="45720">
                    <a:solidFill>
                      <a:srgbClr val="EDF4F6"/>
                    </a:solidFill>
                  </a:tcPr>
                </a:tc>
              </a:tr>
              <a:tr h="695325">
                <a:tc>
                  <a:txBody>
                    <a:bodyPr/>
                    <a:lstStyle/>
                    <a:p>
                      <a:r>
                        <a:rPr sz="2250" b="0">
                          <a:solidFill>
                            <a:srgbClr val="16334B"/>
                          </a:solidFill>
                          <a:latin typeface="Helvetica Neue"/>
                          <a:ea typeface="Helvetica Neue"/>
                          <a:cs typeface="Helvetica Neue"/>
                        </a:rPr>
                        <a:t>Good acceptance</a:t>
                      </a:r>
                    </a:p>
                  </a:txBody>
                  <a:tcPr marL="91440" marR="91440" marT="45720" marB="45720">
                    <a:solidFill>
                      <a:srgbClr val="FFFFFF"/>
                    </a:solidFill>
                  </a:tcPr>
                </a:tc>
                <a:tc>
                  <a:txBody>
                    <a:bodyPr/>
                    <a:lstStyle/>
                    <a:p>
                      <a:r>
                        <a:rPr sz="2250" b="0">
                          <a:solidFill>
                            <a:srgbClr val="16334B"/>
                          </a:solidFill>
                          <a:latin typeface="Helvetica Neue"/>
                          <a:ea typeface="Helvetica Neue"/>
                          <a:cs typeface="Helvetica Neue"/>
                        </a:rPr>
                        <a:t>92.9%</a:t>
                      </a:r>
                    </a:p>
                  </a:txBody>
                  <a:tcPr marL="91440" marR="91440" marT="45720" marB="45720">
                    <a:solidFill>
                      <a:srgbClr val="FFFFFF"/>
                    </a:solidFill>
                  </a:tcPr>
                </a:tc>
                <a:tc>
                  <a:txBody>
                    <a:bodyPr/>
                    <a:lstStyle/>
                    <a:p>
                      <a:r>
                        <a:rPr sz="2250" b="0">
                          <a:solidFill>
                            <a:srgbClr val="16334B"/>
                          </a:solidFill>
                          <a:latin typeface="Helvetica Neue"/>
                          <a:ea typeface="Helvetica Neue"/>
                          <a:cs typeface="Helvetica Neue"/>
                        </a:rPr>
                        <a:t>99.8%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A55350-C668-4E05-AB88-E057C68E38A0}"/>
              </a:ext>
            </a:extLst>
          </p:cNvPr>
          <p:cNvSpPr>
            <a:spLocks xmlns:a="http://schemas.openxmlformats.org/drawingml/2006/main" noGrp="1"/>
          </p:cNvSpPr>
          <p:nvPr/>
        </p:nvSpPr>
        <p:spPr>
          <a:xfrm xmlns:a="http://schemas.openxmlformats.org/drawingml/2006/main">
            <a:off x="695325" y="55721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A43B32"/>
                </a:solidFill>
                <a:latin typeface="Helvetica Neue"/>
                <a:ea typeface="Helvetica Neue"/>
                <a:cs typeface="Helvetica Neue"/>
              </a:defRPr>
            </a:defPPr>
          </a:lstStyle>
          <a:p xmlns:a="http://schemas.openxmlformats.org/drawingml/2006/main">
            <a:pPr>
              <a:defRPr sz="2175" b="1">
                <a:solidFill>
                  <a:srgbClr val="A43B32"/>
                </a:solidFill>
                <a:latin typeface="Helvetica Neue"/>
                <a:ea typeface="Helvetica Neue"/>
                <a:cs typeface="Helvetica Neue"/>
              </a:defRPr>
            </a:pPr>
            <a:r>
              <a:rPr sz="2175" b="1">
                <a:solidFill>
                  <a:srgbClr val="A43B32"/>
                </a:solidFill>
                <a:latin typeface="Helvetica Neue"/>
                <a:ea typeface="Helvetica Neue"/>
                <a:cs typeface="Helvetica Neue"/>
              </a:rPr>
              <a:t>Too wide in aggregate, too narrow at low acceptance</a:t>
            </a:r>
          </a:p>
        </p:txBody>
      </p:sp>
      <p:sp>
        <p:nvSpPr>
          <p:cNvPr id="5" name="">
            <a:extLst xmlns:a="http://schemas.openxmlformats.org/drawingml/2006/main">
              <a:ext uri="{FF2B5EF4-FFF2-40B4-BE49-F238E27FC236}">
                <a16:creationId xmlns:a16="http://schemas.microsoft.com/office/drawing/2014/main" id="{8E78201F-E147-4B9A-8F80-9F708692F140}"/>
              </a:ext>
            </a:extLst>
          </p:cNvPr>
          <p:cNvSpPr>
            <a:spLocks xmlns:a="http://schemas.openxmlformats.org/drawingml/2006/main" noGrp="1"/>
          </p:cNvSpPr>
          <p:nvPr/>
        </p:nvSpPr>
        <p:spPr>
          <a:xfrm xmlns:a="http://schemas.openxmlformats.org/drawingml/2006/main">
            <a:off x="628650" y="62769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06474"/>
                </a:solidFill>
                <a:latin typeface="Helvetica Neue"/>
                <a:ea typeface="Helvetica Neue"/>
                <a:cs typeface="Helvetica Neue"/>
              </a:defRPr>
            </a:defPPr>
          </a:lstStyle>
          <a:p xmlns:a="http://schemas.openxmlformats.org/drawingml/2006/main">
            <a:pPr>
              <a:defRPr sz="1350" b="0">
                <a:solidFill>
                  <a:srgbClr val="506474"/>
                </a:solidFill>
                <a:latin typeface="Helvetica Neue"/>
                <a:ea typeface="Helvetica Neue"/>
                <a:cs typeface="Helvetica Neue"/>
              </a:defRPr>
            </a:pPr>
            <a:r>
              <a:rPr sz="1350" b="0">
                <a:solidFill>
                  <a:srgbClr val="506474"/>
                </a:solidFill>
                <a:latin typeface="Helvetica Neue"/>
                <a:ea typeface="Helvetica Neue"/>
                <a:cs typeface="Helvetica Neue"/>
              </a:rPr>
              <a:t>Compact finalist, 120 simulated draws, six bootstrap members per estimate. No eligible design or selected default</a:t>
            </a:r>
          </a:p>
        </p:txBody>
      </p:sp>
      <p:sp>
        <p:nvSpPr>
          <p:cNvPr id="6" name="">
            <a:extLst xmlns:a="http://schemas.openxmlformats.org/drawingml/2006/main">
              <a:ext uri="{FF2B5EF4-FFF2-40B4-BE49-F238E27FC236}">
                <a16:creationId xmlns:a16="http://schemas.microsoft.com/office/drawing/2014/main" id="{3DCE8E4A-F80D-45F3-AC22-30502B9CE308}"/>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21</a:t>
            </a:r>
          </a:p>
        </p:txBody>
      </p:sp>
    </p:spTree>
    <p:extLst>
      <p:ext uri="{BB962C8B-B14F-4D97-AF65-F5344CB8AC3E}">
        <p14:creationId xmlns:p14="http://schemas.microsoft.com/office/powerpoint/2010/main" val="1823077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5011F2-8295-41F1-A1E6-B5CCE54084DB}"/>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The paired PET–tree comparison depends on the distortion</a:t>
            </a:r>
          </a:p>
        </p:txBody>
      </p:sp>
      <p:sp>
        <p:nvSpPr>
          <p:cNvPr id="2" name="">
            <a:extLst xmlns:a="http://schemas.openxmlformats.org/drawingml/2006/main">
              <a:ext uri="{FF2B5EF4-FFF2-40B4-BE49-F238E27FC236}">
                <a16:creationId xmlns:a16="http://schemas.microsoft.com/office/drawing/2014/main" id="{AE292D20-E1FB-41E5-9F24-636F566E3E6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67F7E6-210B-4611-8B98-2283D436D894}"/>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Available-energy tilt</a:t>
            </a:r>
          </a:p>
        </p:txBody>
      </p:sp>
      <p:sp>
        <p:nvSpPr>
          <p:cNvPr id="4" name="">
            <a:extLst xmlns:a="http://schemas.openxmlformats.org/drawingml/2006/main">
              <a:ext uri="{FF2B5EF4-FFF2-40B4-BE49-F238E27FC236}">
                <a16:creationId xmlns:a16="http://schemas.microsoft.com/office/drawing/2014/main" id="{6252EF6F-F933-4A01-964C-F11F3B18EEC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gains +0.102 and +0.070 in recovery over the matched tree comparator</a:t>
            </a:r>
          </a:p>
        </p:txBody>
      </p:sp>
      <p:sp>
        <p:nvSpPr>
          <p:cNvPr id="5" name="">
            <a:extLst xmlns:a="http://schemas.openxmlformats.org/drawingml/2006/main">
              <a:ext uri="{FF2B5EF4-FFF2-40B4-BE49-F238E27FC236}">
                <a16:creationId xmlns:a16="http://schemas.microsoft.com/office/drawing/2014/main" id="{6CCA0CBF-1510-4A87-B7BF-EF7955FBC2AB}"/>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55FC55-6F74-4CC3-8516-DED8E8777C9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Generator reweightings</a:t>
            </a:r>
          </a:p>
        </p:txBody>
      </p:sp>
      <p:sp>
        <p:nvSpPr>
          <p:cNvPr id="7" name="">
            <a:extLst xmlns:a="http://schemas.openxmlformats.org/drawingml/2006/main">
              <a:ext uri="{FF2B5EF4-FFF2-40B4-BE49-F238E27FC236}">
                <a16:creationId xmlns:a16="http://schemas.microsoft.com/office/drawing/2014/main" id="{05705140-7AA1-4723-A378-32373469A371}"/>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Trees recover the three tested generator departures better</a:t>
            </a:r>
          </a:p>
        </p:txBody>
      </p:sp>
      <p:sp>
        <p:nvSpPr>
          <p:cNvPr id="8" name="">
            <a:extLst xmlns:a="http://schemas.openxmlformats.org/drawingml/2006/main">
              <a:ext uri="{FF2B5EF4-FFF2-40B4-BE49-F238E27FC236}">
                <a16:creationId xmlns:a16="http://schemas.microsoft.com/office/drawing/2014/main" id="{300A72B8-21A6-4320-9C93-97AD4E34529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7E448F-18A4-4C98-AD88-9800E5B859E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Hadron content</a:t>
            </a:r>
          </a:p>
        </p:txBody>
      </p:sp>
      <p:sp>
        <p:nvSpPr>
          <p:cNvPr id="10" name="">
            <a:extLst xmlns:a="http://schemas.openxmlformats.org/drawingml/2006/main">
              <a:ext uri="{FF2B5EF4-FFF2-40B4-BE49-F238E27FC236}">
                <a16:creationId xmlns:a16="http://schemas.microsoft.com/office/drawing/2014/main" id="{6FF0015C-5243-4EA8-B2BD-77E9919D8723}"/>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Some PET gains depend on the tree iteration choice</a:t>
            </a:r>
          </a:p>
        </p:txBody>
      </p:sp>
      <p:sp>
        <p:nvSpPr>
          <p:cNvPr id="11" name="">
            <a:extLst xmlns:a="http://schemas.openxmlformats.org/drawingml/2006/main">
              <a:ext uri="{FF2B5EF4-FFF2-40B4-BE49-F238E27FC236}">
                <a16:creationId xmlns:a16="http://schemas.microsoft.com/office/drawing/2014/main" id="{BBDA4BA0-C352-4911-A015-94AED9B3FE36}"/>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57EEAF5-0C1C-45D1-8C5E-309F548F0A7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Scope</a:t>
            </a:r>
          </a:p>
        </p:txBody>
      </p:sp>
      <p:sp>
        <p:nvSpPr>
          <p:cNvPr id="13" name="">
            <a:extLst xmlns:a="http://schemas.openxmlformats.org/drawingml/2006/main">
              <a:ext uri="{FF2B5EF4-FFF2-40B4-BE49-F238E27FC236}">
                <a16:creationId xmlns:a16="http://schemas.microsoft.com/office/drawing/2014/main" id="{9BD396F3-88EA-4FC0-88CF-7FF44D154D83}"/>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Exploratory point estimates on the same events. No uncertainty comparison</a:t>
            </a:r>
          </a:p>
        </p:txBody>
      </p:sp>
      <p:sp>
        <p:nvSpPr>
          <p:cNvPr id="14" name="">
            <a:extLst xmlns:a="http://schemas.openxmlformats.org/drawingml/2006/main">
              <a:ext uri="{FF2B5EF4-FFF2-40B4-BE49-F238E27FC236}">
                <a16:creationId xmlns:a16="http://schemas.microsoft.com/office/drawing/2014/main" id="{51C980E4-09FF-4B86-8E24-72B65C36362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22</a:t>
            </a:r>
          </a:p>
        </p:txBody>
      </p:sp>
    </p:spTree>
    <p:extLst>
      <p:ext uri="{BB962C8B-B14F-4D97-AF65-F5344CB8AC3E}">
        <p14:creationId xmlns:p14="http://schemas.microsoft.com/office/powerpoint/2010/main" val="6580003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D949BB-7998-47CD-AA2F-7BBB0E9CB3A6}"/>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Reproducibility became part of the research</a:t>
            </a:r>
          </a:p>
        </p:txBody>
      </p:sp>
      <p:sp>
        <p:nvSpPr>
          <p:cNvPr id="2" name="">
            <a:extLst xmlns:a="http://schemas.openxmlformats.org/drawingml/2006/main">
              <a:ext uri="{FF2B5EF4-FFF2-40B4-BE49-F238E27FC236}">
                <a16:creationId xmlns:a16="http://schemas.microsoft.com/office/drawing/2014/main" id="{0ADE4F7D-C3F6-4D9F-94B0-5964BCB6CC13}"/>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7343A7-77BC-4EDF-AA40-953686701883}"/>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Execution integrity</a:t>
            </a:r>
          </a:p>
        </p:txBody>
      </p:sp>
      <p:sp>
        <p:nvSpPr>
          <p:cNvPr id="4" name="">
            <a:extLst xmlns:a="http://schemas.openxmlformats.org/drawingml/2006/main">
              <a:ext uri="{FF2B5EF4-FFF2-40B4-BE49-F238E27FC236}">
                <a16:creationId xmlns:a16="http://schemas.microsoft.com/office/drawing/2014/main" id="{6856AE0D-6BFD-4B74-9BDA-105BB9583997}"/>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An import-path defect could run another checkout’s code despite matching file hashes</a:t>
            </a:r>
          </a:p>
        </p:txBody>
      </p:sp>
      <p:sp>
        <p:nvSpPr>
          <p:cNvPr id="5" name="">
            <a:extLst xmlns:a="http://schemas.openxmlformats.org/drawingml/2006/main">
              <a:ext uri="{FF2B5EF4-FFF2-40B4-BE49-F238E27FC236}">
                <a16:creationId xmlns:a16="http://schemas.microsoft.com/office/drawing/2014/main" id="{D5CE4635-337E-40D0-9861-368415C0EBDE}"/>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2C0BC1-E3B2-4C2E-AC39-96C2C2F55672}"/>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Scientific verification</a:t>
            </a:r>
          </a:p>
        </p:txBody>
      </p:sp>
      <p:sp>
        <p:nvSpPr>
          <p:cNvPr id="7" name="">
            <a:extLst xmlns:a="http://schemas.openxmlformats.org/drawingml/2006/main">
              <a:ext uri="{FF2B5EF4-FFF2-40B4-BE49-F238E27FC236}">
                <a16:creationId xmlns:a16="http://schemas.microsoft.com/office/drawing/2014/main" id="{0FDAD172-94C9-486F-B71E-0CF70757CF26}"/>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Independent recomputation checks the calculation. It cannot validate every assumption</a:t>
            </a:r>
          </a:p>
        </p:txBody>
      </p:sp>
      <p:sp>
        <p:nvSpPr>
          <p:cNvPr id="8" name="">
            <a:extLst xmlns:a="http://schemas.openxmlformats.org/drawingml/2006/main">
              <a:ext uri="{FF2B5EF4-FFF2-40B4-BE49-F238E27FC236}">
                <a16:creationId xmlns:a16="http://schemas.microsoft.com/office/drawing/2014/main" id="{FA28DFD4-ADB6-4748-9D1D-56132E40FD89}"/>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FA5AF6-6379-4987-AF75-7AB3EB0E058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Stopping rules</a:t>
            </a:r>
          </a:p>
        </p:txBody>
      </p:sp>
      <p:sp>
        <p:nvSpPr>
          <p:cNvPr id="10" name="">
            <a:extLst xmlns:a="http://schemas.openxmlformats.org/drawingml/2006/main">
              <a:ext uri="{FF2B5EF4-FFF2-40B4-BE49-F238E27FC236}">
                <a16:creationId xmlns:a16="http://schemas.microsoft.com/office/drawing/2014/main" id="{8A2111E2-6618-4FCD-B622-4B4B8C5593E7}"/>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Closed failed studies preserve useful limits and prevent retrospective selection</a:t>
            </a:r>
          </a:p>
        </p:txBody>
      </p:sp>
      <p:sp>
        <p:nvSpPr>
          <p:cNvPr id="11" name="">
            <a:extLst xmlns:a="http://schemas.openxmlformats.org/drawingml/2006/main">
              <a:ext uri="{FF2B5EF4-FFF2-40B4-BE49-F238E27FC236}">
                <a16:creationId xmlns:a16="http://schemas.microsoft.com/office/drawing/2014/main" id="{B7A7E924-B16D-4C11-87D9-821755BE1BED}"/>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F0504C-D18B-4DCF-AED9-5F37DB99E5BF}"/>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Deliverables</a:t>
            </a:r>
          </a:p>
        </p:txBody>
      </p:sp>
      <p:sp>
        <p:nvSpPr>
          <p:cNvPr id="13" name="">
            <a:extLst xmlns:a="http://schemas.openxmlformats.org/drawingml/2006/main">
              <a:ext uri="{FF2B5EF4-FFF2-40B4-BE49-F238E27FC236}">
                <a16:creationId xmlns:a16="http://schemas.microsoft.com/office/drawing/2014/main" id="{5F2324E5-943C-40AD-9440-79611CA6760F}"/>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Note, primer, article and replay materials now separate claims by scope</a:t>
            </a:r>
          </a:p>
        </p:txBody>
      </p:sp>
      <p:sp>
        <p:nvSpPr>
          <p:cNvPr id="14" name="">
            <a:extLst xmlns:a="http://schemas.openxmlformats.org/drawingml/2006/main">
              <a:ext uri="{FF2B5EF4-FFF2-40B4-BE49-F238E27FC236}">
                <a16:creationId xmlns:a16="http://schemas.microsoft.com/office/drawing/2014/main" id="{5B98C99E-5170-41A9-9951-BA9972EDD079}"/>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23</a:t>
            </a:r>
          </a:p>
        </p:txBody>
      </p:sp>
    </p:spTree>
    <p:extLst>
      <p:ext uri="{BB962C8B-B14F-4D97-AF65-F5344CB8AC3E}">
        <p14:creationId xmlns:p14="http://schemas.microsoft.com/office/powerpoint/2010/main" val="49428215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1E6B833-E557-4BD3-A8A2-A9DDDF288E5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Discussion with Ben</a:t>
            </a:r>
          </a:p>
        </p:txBody>
      </p:sp>
      <p:sp>
        <p:nvSpPr>
          <p:cNvPr id="2" name="">
            <a:extLst xmlns:a="http://schemas.openxmlformats.org/drawingml/2006/main">
              <a:ext uri="{FF2B5EF4-FFF2-40B4-BE49-F238E27FC236}">
                <a16:creationId xmlns:a16="http://schemas.microsoft.com/office/drawing/2014/main" id="{C56901E3-F4B5-43DB-816C-A5075C795EA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73D597-D916-4F42-B763-510DA023FB52}"/>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Article</a:t>
            </a:r>
          </a:p>
        </p:txBody>
      </p:sp>
      <p:sp>
        <p:nvSpPr>
          <p:cNvPr id="4" name="">
            <a:extLst xmlns:a="http://schemas.openxmlformats.org/drawingml/2006/main">
              <a:ext uri="{FF2B5EF4-FFF2-40B4-BE49-F238E27FC236}">
                <a16:creationId xmlns:a16="http://schemas.microsoft.com/office/drawing/2014/main" id="{A5AC5AA6-B279-46D5-AA6B-366EC2B09BEE}"/>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Package assembled for review. Nothing submitted, deposited or sent</a:t>
            </a:r>
          </a:p>
        </p:txBody>
      </p:sp>
      <p:sp>
        <p:nvSpPr>
          <p:cNvPr id="5" name="">
            <a:extLst xmlns:a="http://schemas.openxmlformats.org/drawingml/2006/main">
              <a:ext uri="{FF2B5EF4-FFF2-40B4-BE49-F238E27FC236}">
                <a16:creationId xmlns:a16="http://schemas.microsoft.com/office/drawing/2014/main" id="{9B19C4DB-DA83-4261-9E9A-787D69C8FC17}"/>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22AAF1-4748-4AF2-B5BB-B7EA6F9E04FA}"/>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Measurement priority</a:t>
            </a:r>
          </a:p>
        </p:txBody>
      </p:sp>
      <p:sp>
        <p:nvSpPr>
          <p:cNvPr id="7" name="">
            <a:extLst xmlns:a="http://schemas.openxmlformats.org/drawingml/2006/main">
              <a:ext uri="{FF2B5EF4-FFF2-40B4-BE49-F238E27FC236}">
                <a16:creationId xmlns:a16="http://schemas.microsoft.com/office/drawing/2014/main" id="{9B3EAC6E-D72F-4C8E-85AE-E8F0832F6713}"/>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Resolve the matched 2D estimator and uncertainty question before new production</a:t>
            </a:r>
          </a:p>
        </p:txBody>
      </p:sp>
      <p:sp>
        <p:nvSpPr>
          <p:cNvPr id="8" name="">
            <a:extLst xmlns:a="http://schemas.openxmlformats.org/drawingml/2006/main">
              <a:ext uri="{FF2B5EF4-FFF2-40B4-BE49-F238E27FC236}">
                <a16:creationId xmlns:a16="http://schemas.microsoft.com/office/drawing/2014/main" id="{C4775117-5167-4E5A-89F6-C250E244425B}"/>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9E8D9B-D94F-4171-8419-2F0CC6C51A62}"/>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Method development</a:t>
            </a:r>
          </a:p>
        </p:txBody>
      </p:sp>
      <p:sp>
        <p:nvSpPr>
          <p:cNvPr id="10" name="">
            <a:extLst xmlns:a="http://schemas.openxmlformats.org/drawingml/2006/main">
              <a:ext uri="{FF2B5EF4-FFF2-40B4-BE49-F238E27FC236}">
                <a16:creationId xmlns:a16="http://schemas.microsoft.com/office/drawing/2014/main" id="{A303D1A0-F22C-448F-9513-D03F9F7A7DF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PET recovery and interval calibration are separate next decisions</a:t>
            </a:r>
          </a:p>
        </p:txBody>
      </p:sp>
      <p:sp>
        <p:nvSpPr>
          <p:cNvPr id="11" name="">
            <a:extLst xmlns:a="http://schemas.openxmlformats.org/drawingml/2006/main">
              <a:ext uri="{FF2B5EF4-FFF2-40B4-BE49-F238E27FC236}">
                <a16:creationId xmlns:a16="http://schemas.microsoft.com/office/drawing/2014/main" id="{1BFB3839-B1CD-4A3F-AC72-2C696130D6C8}"/>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3721276-F4E9-4ACC-A929-0F023E3E9E3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Scope decision</a:t>
            </a:r>
          </a:p>
        </p:txBody>
      </p:sp>
      <p:sp>
        <p:nvSpPr>
          <p:cNvPr id="13" name="">
            <a:extLst xmlns:a="http://schemas.openxmlformats.org/drawingml/2006/main">
              <a:ext uri="{FF2B5EF4-FFF2-40B4-BE49-F238E27FC236}">
                <a16:creationId xmlns:a16="http://schemas.microsoft.com/office/drawing/2014/main" id="{37A45458-8964-4381-81BC-0442D5C92102}"/>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Which result should lead, and which validation is most valuable next?</a:t>
            </a:r>
          </a:p>
        </p:txBody>
      </p:sp>
      <p:sp>
        <p:nvSpPr>
          <p:cNvPr id="14" name="">
            <a:extLst xmlns:a="http://schemas.openxmlformats.org/drawingml/2006/main">
              <a:ext uri="{FF2B5EF4-FFF2-40B4-BE49-F238E27FC236}">
                <a16:creationId xmlns:a16="http://schemas.microsoft.com/office/drawing/2014/main" id="{19FAF56B-C76D-4D46-8E74-F306D4497500}"/>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24</a:t>
            </a:r>
          </a:p>
        </p:txBody>
      </p:sp>
    </p:spTree>
    <p:extLst>
      <p:ext uri="{BB962C8B-B14F-4D97-AF65-F5344CB8AC3E}">
        <p14:creationId xmlns:p14="http://schemas.microsoft.com/office/powerpoint/2010/main" val="20401186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7AAE72-BCD3-4F29-989A-F8408EFC2CD2}"/>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exact available-energy convention</a:t>
            </a:r>
          </a:p>
        </p:txBody>
      </p:sp>
      <p:sp>
        <p:nvSpPr>
          <p:cNvPr id="2" name="">
            <a:extLst xmlns:a="http://schemas.openxmlformats.org/drawingml/2006/main">
              <a:ext uri="{FF2B5EF4-FFF2-40B4-BE49-F238E27FC236}">
                <a16:creationId xmlns:a16="http://schemas.microsoft.com/office/drawing/2014/main" id="{C3E17628-06DE-42F2-AEA5-52FD3B07CE08}"/>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565677-61C7-491C-8BE6-997873FB68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a:t>
            </a:r>
          </a:p>
        </p:txBody>
      </p:sp>
      <p:sp>
        <p:nvSpPr>
          <p:cNvPr id="4" name="">
            <a:extLst xmlns:a="http://schemas.openxmlformats.org/drawingml/2006/main">
              <a:ext uri="{FF2B5EF4-FFF2-40B4-BE49-F238E27FC236}">
                <a16:creationId xmlns:a16="http://schemas.microsoft.com/office/drawing/2014/main" id="{85547D5C-2679-43A4-9FA0-E6D69AFFAFA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Protons: E − 938.27 MeV. Charged pions: E − 135 MeV</a:t>
            </a:r>
          </a:p>
        </p:txBody>
      </p:sp>
      <p:sp>
        <p:nvSpPr>
          <p:cNvPr id="5" name="">
            <a:extLst xmlns:a="http://schemas.openxmlformats.org/drawingml/2006/main">
              <a:ext uri="{FF2B5EF4-FFF2-40B4-BE49-F238E27FC236}">
                <a16:creationId xmlns:a16="http://schemas.microsoft.com/office/drawing/2014/main" id="{1E7DA376-BAF6-4DD3-962F-D0EEEBFCEE7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89DB3E-8596-4640-A514-4A4C7532C5B9}"/>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Truth continued</a:t>
            </a:r>
          </a:p>
        </p:txBody>
      </p:sp>
      <p:sp>
        <p:nvSpPr>
          <p:cNvPr id="7" name="">
            <a:extLst xmlns:a="http://schemas.openxmlformats.org/drawingml/2006/main">
              <a:ext uri="{FF2B5EF4-FFF2-40B4-BE49-F238E27FC236}">
                <a16:creationId xmlns:a16="http://schemas.microsoft.com/office/drawing/2014/main" id="{C2217F79-CD6E-4C09-B2FF-94D875983F79}"/>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Neutral pions and photons: total energy. All other species contribute zero</a:t>
            </a:r>
          </a:p>
        </p:txBody>
      </p:sp>
      <p:sp>
        <p:nvSpPr>
          <p:cNvPr id="8" name="">
            <a:extLst xmlns:a="http://schemas.openxmlformats.org/drawingml/2006/main">
              <a:ext uri="{FF2B5EF4-FFF2-40B4-BE49-F238E27FC236}">
                <a16:creationId xmlns:a16="http://schemas.microsoft.com/office/drawing/2014/main" id="{0B451DFC-60B8-4E19-9712-12401B1F7803}"/>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6F791E-39EB-42BE-860E-5391CFC00416}"/>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Reconstruction</a:t>
            </a:r>
          </a:p>
        </p:txBody>
      </p:sp>
      <p:sp>
        <p:nvSpPr>
          <p:cNvPr id="10" name="">
            <a:extLst xmlns:a="http://schemas.openxmlformats.org/drawingml/2006/main">
              <a:ext uri="{FF2B5EF4-FFF2-40B4-BE49-F238E27FC236}">
                <a16:creationId xmlns:a16="http://schemas.microsoft.com/office/drawing/2014/main" id="{77A604A3-F201-4DF5-9F77-7F1B73C213F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1.17 × (tracker + ECAL blob energy after muon-fuzz subtraction)</a:t>
            </a:r>
          </a:p>
        </p:txBody>
      </p:sp>
      <p:sp>
        <p:nvSpPr>
          <p:cNvPr id="11" name="">
            <a:extLst xmlns:a="http://schemas.openxmlformats.org/drawingml/2006/main">
              <a:ext uri="{FF2B5EF4-FFF2-40B4-BE49-F238E27FC236}">
                <a16:creationId xmlns:a16="http://schemas.microsoft.com/office/drawing/2014/main" id="{5F65F745-72FB-40D4-BBAA-060004685462}"/>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3092BA-505D-4F3A-90BB-87A3E47E7DA0}"/>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Comparison limit</a:t>
            </a:r>
          </a:p>
        </p:txBody>
      </p:sp>
      <p:sp>
        <p:nvSpPr>
          <p:cNvPr id="13" name="">
            <a:extLst xmlns:a="http://schemas.openxmlformats.org/drawingml/2006/main">
              <a:ext uri="{FF2B5EF4-FFF2-40B4-BE49-F238E27FC236}">
                <a16:creationId xmlns:a16="http://schemas.microsoft.com/office/drawing/2014/main" id="{750C3DDC-0488-411E-903D-D4B7AB97DCAB}"/>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inherited charged-pion constant and species exclusions differ from some published definitions</a:t>
            </a:r>
          </a:p>
        </p:txBody>
      </p:sp>
      <p:sp>
        <p:nvSpPr>
          <p:cNvPr id="14" name="">
            <a:extLst xmlns:a="http://schemas.openxmlformats.org/drawingml/2006/main">
              <a:ext uri="{FF2B5EF4-FFF2-40B4-BE49-F238E27FC236}">
                <a16:creationId xmlns:a16="http://schemas.microsoft.com/office/drawing/2014/main" id="{C671BC00-F8A8-4D45-9DD2-2D37B3DD15B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B1</a:t>
            </a:r>
          </a:p>
        </p:txBody>
      </p:sp>
    </p:spTree>
    <p:extLst>
      <p:ext uri="{BB962C8B-B14F-4D97-AF65-F5344CB8AC3E}">
        <p14:creationId xmlns:p14="http://schemas.microsoft.com/office/powerpoint/2010/main" val="12232126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E3578A5-2BA7-4B9D-B04D-9992F1D7EF6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q3 and W are inferred kinematic quantities</a:t>
            </a:r>
          </a:p>
        </p:txBody>
      </p:sp>
      <p:sp>
        <p:nvSpPr>
          <p:cNvPr id="2" name="">
            <a:extLst xmlns:a="http://schemas.openxmlformats.org/drawingml/2006/main">
              <a:ext uri="{FF2B5EF4-FFF2-40B4-BE49-F238E27FC236}">
                <a16:creationId xmlns:a16="http://schemas.microsoft.com/office/drawing/2014/main" id="{0293E1ED-07C4-4203-9D19-EE67776DD21C}"/>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3F6412-8F46-4EC3-86F5-B7FD2142CEA6}"/>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q0</a:t>
            </a:r>
          </a:p>
        </p:txBody>
      </p:sp>
      <p:sp>
        <p:nvSpPr>
          <p:cNvPr id="4" name="">
            <a:extLst xmlns:a="http://schemas.openxmlformats.org/drawingml/2006/main">
              <a:ext uri="{FF2B5EF4-FFF2-40B4-BE49-F238E27FC236}">
                <a16:creationId xmlns:a16="http://schemas.microsoft.com/office/drawing/2014/main" id="{D7ABEB99-76D3-4A43-95B1-7F531C780D0D}"/>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Energy transfer: neutrino energy minus muon energy at truth level</a:t>
            </a:r>
          </a:p>
        </p:txBody>
      </p:sp>
      <p:sp>
        <p:nvSpPr>
          <p:cNvPr id="5" name="">
            <a:extLst xmlns:a="http://schemas.openxmlformats.org/drawingml/2006/main">
              <a:ext uri="{FF2B5EF4-FFF2-40B4-BE49-F238E27FC236}">
                <a16:creationId xmlns:a16="http://schemas.microsoft.com/office/drawing/2014/main" id="{F20ED377-2193-4C15-8A5B-C8F651FE0180}"/>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CB14CD-2EC5-466D-97E1-122CFDB041A5}"/>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Q²</a:t>
            </a:r>
          </a:p>
        </p:txBody>
      </p:sp>
      <p:sp>
        <p:nvSpPr>
          <p:cNvPr id="7" name="">
            <a:extLst xmlns:a="http://schemas.openxmlformats.org/drawingml/2006/main">
              <a:ext uri="{FF2B5EF4-FFF2-40B4-BE49-F238E27FC236}">
                <a16:creationId xmlns:a16="http://schemas.microsoft.com/office/drawing/2014/main" id="{391B7CF5-F5D0-47F3-9830-D7125FEF2CD3}"/>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Positive spacelike four-momentum-transfer variable</a:t>
            </a:r>
          </a:p>
        </p:txBody>
      </p:sp>
      <p:sp>
        <p:nvSpPr>
          <p:cNvPr id="8" name="">
            <a:extLst xmlns:a="http://schemas.openxmlformats.org/drawingml/2006/main">
              <a:ext uri="{FF2B5EF4-FFF2-40B4-BE49-F238E27FC236}">
                <a16:creationId xmlns:a16="http://schemas.microsoft.com/office/drawing/2014/main" id="{C4267448-9910-4CCF-BE29-B737BF93380F}"/>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8D6C7F-D35B-41D9-8BBD-FD30990FFABF}"/>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q3</a:t>
            </a:r>
          </a:p>
        </p:txBody>
      </p:sp>
      <p:sp>
        <p:nvSpPr>
          <p:cNvPr id="10" name="">
            <a:extLst xmlns:a="http://schemas.openxmlformats.org/drawingml/2006/main">
              <a:ext uri="{FF2B5EF4-FFF2-40B4-BE49-F238E27FC236}">
                <a16:creationId xmlns:a16="http://schemas.microsoft.com/office/drawing/2014/main" id="{85631159-2526-4D5B-B060-E2AAC89C3CD8}"/>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Magnitude of momentum transfer: q3² = Q² + q0²</a:t>
            </a:r>
          </a:p>
        </p:txBody>
      </p:sp>
      <p:sp>
        <p:nvSpPr>
          <p:cNvPr id="11" name="">
            <a:extLst xmlns:a="http://schemas.openxmlformats.org/drawingml/2006/main">
              <a:ext uri="{FF2B5EF4-FFF2-40B4-BE49-F238E27FC236}">
                <a16:creationId xmlns:a16="http://schemas.microsoft.com/office/drawing/2014/main" id="{F2892E10-209C-47F8-9A37-7FE6D96CD6B7}"/>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A5B6CB-E789-43EF-BEC3-3C5CC2B5F102}"/>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W</a:t>
            </a:r>
          </a:p>
        </p:txBody>
      </p:sp>
      <p:sp>
        <p:nvSpPr>
          <p:cNvPr id="13" name="">
            <a:extLst xmlns:a="http://schemas.openxmlformats.org/drawingml/2006/main">
              <a:ext uri="{FF2B5EF4-FFF2-40B4-BE49-F238E27FC236}">
                <a16:creationId xmlns:a16="http://schemas.microsoft.com/office/drawing/2014/main" id="{EEB59CC6-0164-4BBE-A414-B840B0F04B06}"/>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Experimenter’s mass: W² = M² + 2M q0 − Q²</a:t>
            </a:r>
          </a:p>
        </p:txBody>
      </p:sp>
      <p:sp>
        <p:nvSpPr>
          <p:cNvPr id="14" name="">
            <a:extLst xmlns:a="http://schemas.openxmlformats.org/drawingml/2006/main">
              <a:ext uri="{FF2B5EF4-FFF2-40B4-BE49-F238E27FC236}">
                <a16:creationId xmlns:a16="http://schemas.microsoft.com/office/drawing/2014/main" id="{DC84B78E-D737-4AE6-A775-3734AD0E2553}"/>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B2</a:t>
            </a:r>
          </a:p>
        </p:txBody>
      </p:sp>
    </p:spTree>
    <p:extLst>
      <p:ext uri="{BB962C8B-B14F-4D97-AF65-F5344CB8AC3E}">
        <p14:creationId xmlns:p14="http://schemas.microsoft.com/office/powerpoint/2010/main" val="45409314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2F3951-BF39-48DD-AE2A-F4AF992D9B60}"/>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adopted covariance’s exact boundary</a:t>
            </a:r>
          </a:p>
        </p:txBody>
      </p:sp>
      <p:sp>
        <p:nvSpPr>
          <p:cNvPr id="2" name="">
            <a:extLst xmlns:a="http://schemas.openxmlformats.org/drawingml/2006/main">
              <a:ext uri="{FF2B5EF4-FFF2-40B4-BE49-F238E27FC236}">
                <a16:creationId xmlns:a16="http://schemas.microsoft.com/office/drawing/2014/main" id="{1FE215BE-B830-4C37-BDDF-36AD7554BC37}"/>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187DD9-6E81-4ABF-8656-A8285EFDA822}"/>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Identity</a:t>
            </a:r>
          </a:p>
        </p:txBody>
      </p:sp>
      <p:sp>
        <p:nvSpPr>
          <p:cNvPr id="4" name="">
            <a:extLst xmlns:a="http://schemas.openxmlformats.org/drawingml/2006/main">
              <a:ext uri="{FF2B5EF4-FFF2-40B4-BE49-F238E27FC236}">
                <a16:creationId xmlns:a16="http://schemas.microsoft.com/office/drawing/2014/main" id="{66040085-E73F-4F66-A53D-61CB426D1C10}"/>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z-cv.npz, SHA-256 prefix 3d7465f6, 890,500,272 bytes</a:t>
            </a:r>
          </a:p>
        </p:txBody>
      </p:sp>
      <p:sp>
        <p:nvSpPr>
          <p:cNvPr id="5" name="">
            <a:extLst xmlns:a="http://schemas.openxmlformats.org/drawingml/2006/main">
              <a:ext uri="{FF2B5EF4-FFF2-40B4-BE49-F238E27FC236}">
                <a16:creationId xmlns:a16="http://schemas.microsoft.com/office/drawing/2014/main" id="{C06E0B79-3014-40EB-846F-5952E233CC6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0E93AA-805F-4307-BD8C-9B4195D2979B}"/>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Four measurements</a:t>
            </a:r>
          </a:p>
        </p:txBody>
      </p:sp>
      <p:sp>
        <p:nvSpPr>
          <p:cNvPr id="7" name="">
            <a:extLst xmlns:a="http://schemas.openxmlformats.org/drawingml/2006/main">
              <a:ext uri="{FF2B5EF4-FFF2-40B4-BE49-F238E27FC236}">
                <a16:creationId xmlns:a16="http://schemas.microsoft.com/office/drawing/2014/main" id="{A3BD99A1-E50A-4257-8405-65B708A7C87D}"/>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M1–M4 on slide 13 travel with every use of this product</a:t>
            </a:r>
          </a:p>
        </p:txBody>
      </p:sp>
      <p:sp>
        <p:nvSpPr>
          <p:cNvPr id="8" name="">
            <a:extLst xmlns:a="http://schemas.openxmlformats.org/drawingml/2006/main">
              <a:ext uri="{FF2B5EF4-FFF2-40B4-BE49-F238E27FC236}">
                <a16:creationId xmlns:a16="http://schemas.microsoft.com/office/drawing/2014/main" id="{8C4AF906-EC19-4780-B763-9664DADA4D66}"/>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59AFEA-E8E3-4DD5-BC4A-77BAC4BC74E1}"/>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Unresolved criterion</a:t>
            </a:r>
          </a:p>
        </p:txBody>
      </p:sp>
      <p:sp>
        <p:nvSpPr>
          <p:cNvPr id="10" name="">
            <a:extLst xmlns:a="http://schemas.openxmlformats.org/drawingml/2006/main">
              <a:ext uri="{FF2B5EF4-FFF2-40B4-BE49-F238E27FC236}">
                <a16:creationId xmlns:a16="http://schemas.microsoft.com/office/drawing/2014/main" id="{55ED6DC9-92FD-4A9E-8251-1C9C4B146F6E}"/>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Cause 3 remains predeclared and not computed for this digest</a:t>
            </a:r>
          </a:p>
        </p:txBody>
      </p:sp>
      <p:sp>
        <p:nvSpPr>
          <p:cNvPr id="11" name="">
            <a:extLst xmlns:a="http://schemas.openxmlformats.org/drawingml/2006/main">
              <a:ext uri="{FF2B5EF4-FFF2-40B4-BE49-F238E27FC236}">
                <a16:creationId xmlns:a16="http://schemas.microsoft.com/office/drawing/2014/main" id="{0ECDD4E3-EAE2-4E7D-A0E6-317BA48DD1B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E66CA0-A3F5-4ADA-86AE-BD843ED2E29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Decision meaning</a:t>
            </a:r>
          </a:p>
        </p:txBody>
      </p:sp>
      <p:sp>
        <p:nvSpPr>
          <p:cNvPr id="13" name="">
            <a:extLst xmlns:a="http://schemas.openxmlformats.org/drawingml/2006/main">
              <a:ext uri="{FF2B5EF4-FFF2-40B4-BE49-F238E27FC236}">
                <a16:creationId xmlns:a16="http://schemas.microsoft.com/office/drawing/2014/main" id="{2EAB63DC-0C6B-4354-A51E-82B2B659AAC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Exception covers these bytes only. No inherited adoption for other candidates</a:t>
            </a:r>
          </a:p>
        </p:txBody>
      </p:sp>
      <p:sp>
        <p:nvSpPr>
          <p:cNvPr id="14" name="">
            <a:extLst xmlns:a="http://schemas.openxmlformats.org/drawingml/2006/main">
              <a:ext uri="{FF2B5EF4-FFF2-40B4-BE49-F238E27FC236}">
                <a16:creationId xmlns:a16="http://schemas.microsoft.com/office/drawing/2014/main" id="{EF61A68D-948B-463D-9597-E63E141FFF57}"/>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B3</a:t>
            </a:r>
          </a:p>
        </p:txBody>
      </p:sp>
    </p:spTree>
    <p:extLst>
      <p:ext uri="{BB962C8B-B14F-4D97-AF65-F5344CB8AC3E}">
        <p14:creationId xmlns:p14="http://schemas.microsoft.com/office/powerpoint/2010/main" val="171931044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CD5973E-4CBE-404F-B3D1-89D5970F3DB6}"/>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reading the conditional p-values</a:t>
            </a:r>
          </a:p>
        </p:txBody>
      </p:sp>
      <p:sp>
        <p:nvSpPr>
          <p:cNvPr id="2" name="">
            <a:extLst xmlns:a="http://schemas.openxmlformats.org/drawingml/2006/main">
              <a:ext uri="{FF2B5EF4-FFF2-40B4-BE49-F238E27FC236}">
                <a16:creationId xmlns:a16="http://schemas.microsoft.com/office/drawing/2014/main" id="{AE7E37B7-169F-4FC5-B542-A98C858ECBA2}"/>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61DC09-ECDA-447A-B6F9-4964C2433837}"/>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Finite simulation</a:t>
            </a:r>
          </a:p>
        </p:txBody>
      </p:sp>
      <p:sp>
        <p:nvSpPr>
          <p:cNvPr id="4" name="">
            <a:extLst xmlns:a="http://schemas.openxmlformats.org/drawingml/2006/main">
              <a:ext uri="{FF2B5EF4-FFF2-40B4-BE49-F238E27FC236}">
                <a16:creationId xmlns:a16="http://schemas.microsoft.com/office/drawing/2014/main" id="{4B6446B6-C3B1-4A6D-B828-F3494503026A}"/>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p = (k + 1) / (B + 1), with k exceedances in B toys</a:t>
            </a:r>
          </a:p>
        </p:txBody>
      </p:sp>
      <p:sp>
        <p:nvSpPr>
          <p:cNvPr id="5" name="">
            <a:extLst xmlns:a="http://schemas.openxmlformats.org/drawingml/2006/main">
              <a:ext uri="{FF2B5EF4-FFF2-40B4-BE49-F238E27FC236}">
                <a16:creationId xmlns:a16="http://schemas.microsoft.com/office/drawing/2014/main" id="{2853313D-8E7D-4ADB-9ADB-26B60025AA34}"/>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BA01C0-CCD6-4B36-8EF1-AF90D51D7114}"/>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Resolution</a:t>
            </a:r>
          </a:p>
        </p:txBody>
      </p:sp>
      <p:sp>
        <p:nvSpPr>
          <p:cNvPr id="7" name="">
            <a:extLst xmlns:a="http://schemas.openxmlformats.org/drawingml/2006/main">
              <a:ext uri="{FF2B5EF4-FFF2-40B4-BE49-F238E27FC236}">
                <a16:creationId xmlns:a16="http://schemas.microsoft.com/office/drawing/2014/main" id="{9AED3920-CFA4-48DC-9705-86E99197743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B = 1,343–1,751. Never report p = 0 or turn it into a Gaussian significance</a:t>
            </a:r>
          </a:p>
        </p:txBody>
      </p:sp>
      <p:sp>
        <p:nvSpPr>
          <p:cNvPr id="8" name="">
            <a:extLst xmlns:a="http://schemas.openxmlformats.org/drawingml/2006/main">
              <a:ext uri="{FF2B5EF4-FFF2-40B4-BE49-F238E27FC236}">
                <a16:creationId xmlns:a16="http://schemas.microsoft.com/office/drawing/2014/main" id="{6D64A335-4F5F-4072-A5FA-C3C6F7A9A7AF}"/>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ED417E-EB47-4B21-987F-DFBB3A0A5F4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Test domain</a:t>
            </a:r>
          </a:p>
        </p:txBody>
      </p:sp>
      <p:sp>
        <p:nvSpPr>
          <p:cNvPr id="10" name="">
            <a:extLst xmlns:a="http://schemas.openxmlformats.org/drawingml/2006/main">
              <a:ext uri="{FF2B5EF4-FFF2-40B4-BE49-F238E27FC236}">
                <a16:creationId xmlns:a16="http://schemas.microsoft.com/office/drawing/2014/main" id="{DFD3DF9B-7146-4659-B00E-5055ABDEE67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109 supported joint cells. 72 for GiBUU with p∥ &lt; 6 GeV/c</a:t>
            </a:r>
          </a:p>
        </p:txBody>
      </p:sp>
      <p:sp>
        <p:nvSpPr>
          <p:cNvPr id="11" name="">
            <a:extLst xmlns:a="http://schemas.openxmlformats.org/drawingml/2006/main">
              <a:ext uri="{FF2B5EF4-FFF2-40B4-BE49-F238E27FC236}">
                <a16:creationId xmlns:a16="http://schemas.microsoft.com/office/drawing/2014/main" id="{32ACE4A6-44A1-484B-85C7-6A7BE818020C}"/>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77D8F90-CDFE-4D9D-A7C9-27580012A04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Missing draws</a:t>
            </a:r>
          </a:p>
        </p:txBody>
      </p:sp>
      <p:sp>
        <p:nvSpPr>
          <p:cNvPr id="13" name="">
            <a:extLst xmlns:a="http://schemas.openxmlformats.org/drawingml/2006/main">
              <a:ext uri="{FF2B5EF4-FFF2-40B4-BE49-F238E27FC236}">
                <a16:creationId xmlns:a16="http://schemas.microsoft.com/office/drawing/2014/main" id="{FC90B777-C027-414A-98EF-CD6A8376C27A}"/>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224 calibration + 53 power draws recovered. Frozen decisions unchanged</a:t>
            </a:r>
          </a:p>
        </p:txBody>
      </p:sp>
      <p:sp>
        <p:nvSpPr>
          <p:cNvPr id="14" name="">
            <a:extLst xmlns:a="http://schemas.openxmlformats.org/drawingml/2006/main">
              <a:ext uri="{FF2B5EF4-FFF2-40B4-BE49-F238E27FC236}">
                <a16:creationId xmlns:a16="http://schemas.microsoft.com/office/drawing/2014/main" id="{33DA5B2E-19E0-43D4-B20F-2F0B590CF961}"/>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B4</a:t>
            </a:r>
          </a:p>
        </p:txBody>
      </p:sp>
    </p:spTree>
    <p:extLst>
      <p:ext uri="{BB962C8B-B14F-4D97-AF65-F5344CB8AC3E}">
        <p14:creationId xmlns:p14="http://schemas.microsoft.com/office/powerpoint/2010/main" val="669893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F6EFA3E-3DC8-4725-95C8-21E599F68F3F}"/>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PET representation studies</a:t>
            </a:r>
          </a:p>
        </p:txBody>
      </p:sp>
      <p:sp>
        <p:nvSpPr>
          <p:cNvPr id="2" name="">
            <a:extLst xmlns:a="http://schemas.openxmlformats.org/drawingml/2006/main">
              <a:ext uri="{FF2B5EF4-FFF2-40B4-BE49-F238E27FC236}">
                <a16:creationId xmlns:a16="http://schemas.microsoft.com/office/drawing/2014/main" id="{7005A1F1-33D9-4073-8D2C-38AEC02DFE90}"/>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95AED6-1073-4940-810C-89DAB262CD71}"/>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Pooling versus individual objects</a:t>
            </a:r>
          </a:p>
        </p:txBody>
      </p:sp>
      <p:sp>
        <p:nvSpPr>
          <p:cNvPr id="4" name="">
            <a:extLst xmlns:a="http://schemas.openxmlformats.org/drawingml/2006/main">
              <a:ext uri="{FF2B5EF4-FFF2-40B4-BE49-F238E27FC236}">
                <a16:creationId xmlns:a16="http://schemas.microsoft.com/office/drawing/2014/main" id="{17A7A93A-9E02-426E-B66C-A85F38680A7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Synthetic routing comparison found no resolved accuracy difference</a:t>
            </a:r>
          </a:p>
        </p:txBody>
      </p:sp>
      <p:sp>
        <p:nvSpPr>
          <p:cNvPr id="5" name="">
            <a:extLst xmlns:a="http://schemas.openxmlformats.org/drawingml/2006/main">
              <a:ext uri="{FF2B5EF4-FFF2-40B4-BE49-F238E27FC236}">
                <a16:creationId xmlns:a16="http://schemas.microsoft.com/office/drawing/2014/main" id="{0FEF8409-F176-44AF-94C9-33A40674C5BC}"/>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F30C58-41DE-4BF2-85A4-E0A2F7D235B6}"/>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Production cloud</a:t>
            </a:r>
          </a:p>
        </p:txBody>
      </p:sp>
      <p:sp>
        <p:nvSpPr>
          <p:cNvPr id="7" name="">
            <a:extLst xmlns:a="http://schemas.openxmlformats.org/drawingml/2006/main">
              <a:ext uri="{FF2B5EF4-FFF2-40B4-BE49-F238E27FC236}">
                <a16:creationId xmlns:a16="http://schemas.microsoft.com/office/drawing/2014/main" id="{DEDC98EE-B287-47E1-9D0B-F3943E8AFEFC}"/>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The top-12 cap removes substantial reconstructed activity</a:t>
            </a:r>
          </a:p>
        </p:txBody>
      </p:sp>
      <p:sp>
        <p:nvSpPr>
          <p:cNvPr id="8" name="">
            <a:extLst xmlns:a="http://schemas.openxmlformats.org/drawingml/2006/main">
              <a:ext uri="{FF2B5EF4-FFF2-40B4-BE49-F238E27FC236}">
                <a16:creationId xmlns:a16="http://schemas.microsoft.com/office/drawing/2014/main" id="{4FAE0EEE-B856-4CA6-A344-1FD723DD4BFC}"/>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AA5E80-FF79-4DFC-9531-BA3D09FF05F9}"/>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Improvement campaign</a:t>
            </a:r>
          </a:p>
        </p:txBody>
      </p:sp>
      <p:sp>
        <p:nvSpPr>
          <p:cNvPr id="10" name="">
            <a:extLst xmlns:a="http://schemas.openxmlformats.org/drawingml/2006/main">
              <a:ext uri="{FF2B5EF4-FFF2-40B4-BE49-F238E27FC236}">
                <a16:creationId xmlns:a16="http://schemas.microsoft.com/office/drawing/2014/main" id="{F98A9D48-DC3B-46C2-A53C-B4CB209EEC2A}"/>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frozen ten-iteration candidate passed adequacy plus stress</a:t>
            </a:r>
          </a:p>
        </p:txBody>
      </p:sp>
      <p:sp>
        <p:nvSpPr>
          <p:cNvPr id="11" name="">
            <a:extLst xmlns:a="http://schemas.openxmlformats.org/drawingml/2006/main">
              <a:ext uri="{FF2B5EF4-FFF2-40B4-BE49-F238E27FC236}">
                <a16:creationId xmlns:a16="http://schemas.microsoft.com/office/drawing/2014/main" id="{F134B44A-DB3A-49AF-89A7-C8190B2A75A8}"/>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905763-6ED6-4105-95B1-1431B13D00D8}"/>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Final design and pretraining</a:t>
            </a:r>
          </a:p>
        </p:txBody>
      </p:sp>
      <p:sp>
        <p:nvSpPr>
          <p:cNvPr id="13" name="">
            <a:extLst xmlns:a="http://schemas.openxmlformats.org/drawingml/2006/main">
              <a:ext uri="{FF2B5EF4-FFF2-40B4-BE49-F238E27FC236}">
                <a16:creationId xmlns:a16="http://schemas.microsoft.com/office/drawing/2014/main" id="{BFA6CF73-A978-4394-8F3A-24C66D34EAF2}"/>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No tested PET2 recipe passed every development screen</a:t>
            </a:r>
          </a:p>
        </p:txBody>
      </p:sp>
      <p:sp>
        <p:nvSpPr>
          <p:cNvPr id="14" name="">
            <a:extLst xmlns:a="http://schemas.openxmlformats.org/drawingml/2006/main">
              <a:ext uri="{FF2B5EF4-FFF2-40B4-BE49-F238E27FC236}">
                <a16:creationId xmlns:a16="http://schemas.microsoft.com/office/drawing/2014/main" id="{CABDC71B-3B21-4ECF-95C3-AF86CFB3F1CE}"/>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B5</a:t>
            </a:r>
          </a:p>
        </p:txBody>
      </p:sp>
    </p:spTree>
    <p:extLst>
      <p:ext uri="{BB962C8B-B14F-4D97-AF65-F5344CB8AC3E}">
        <p14:creationId xmlns:p14="http://schemas.microsoft.com/office/powerpoint/2010/main" val="180525135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825DA7-8CBF-4762-A723-72A989ED1355}"/>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the closed scalar sequence</a:t>
            </a:r>
          </a:p>
        </p:txBody>
      </p:sp>
      <p:sp>
        <p:nvSpPr>
          <p:cNvPr id="2" name="">
            <a:extLst xmlns:a="http://schemas.openxmlformats.org/drawingml/2006/main">
              <a:ext uri="{FF2B5EF4-FFF2-40B4-BE49-F238E27FC236}">
                <a16:creationId xmlns:a16="http://schemas.microsoft.com/office/drawing/2014/main" id="{4412CAF5-8138-4887-B293-CC57AB35CC21}"/>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9BBB55-D1A0-4F9F-B5F4-3DAF336F52B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s5c</a:t>
            </a:r>
          </a:p>
        </p:txBody>
      </p:sp>
      <p:sp>
        <p:nvSpPr>
          <p:cNvPr id="4" name="">
            <a:extLst xmlns:a="http://schemas.openxmlformats.org/drawingml/2006/main">
              <a:ext uri="{FF2B5EF4-FFF2-40B4-BE49-F238E27FC236}">
                <a16:creationId xmlns:a16="http://schemas.microsoft.com/office/drawing/2014/main" id="{DFA688D4-5EE5-496C-8633-945B7BF9DFCF}"/>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Futility stop. Nominal purity-background bias confirmed</a:t>
            </a:r>
          </a:p>
        </p:txBody>
      </p:sp>
      <p:sp>
        <p:nvSpPr>
          <p:cNvPr id="5" name="">
            <a:extLst xmlns:a="http://schemas.openxmlformats.org/drawingml/2006/main">
              <a:ext uri="{FF2B5EF4-FFF2-40B4-BE49-F238E27FC236}">
                <a16:creationId xmlns:a16="http://schemas.microsoft.com/office/drawing/2014/main" id="{3A2E1F8B-1BB6-401B-B68D-3FC4A7F41789}"/>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C00737-8E0C-4E4D-9981-90AB91D507DA}"/>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s5n</a:t>
            </a:r>
          </a:p>
        </p:txBody>
      </p:sp>
      <p:sp>
        <p:nvSpPr>
          <p:cNvPr id="7" name="">
            <a:extLst xmlns:a="http://schemas.openxmlformats.org/drawingml/2006/main">
              <a:ext uri="{FF2B5EF4-FFF2-40B4-BE49-F238E27FC236}">
                <a16:creationId xmlns:a16="http://schemas.microsoft.com/office/drawing/2014/main" id="{DCFDB4C2-1BC0-43BA-8855-F0A6DE59956A}"/>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Refined subtraction improves nominal behavior. Departure failure persists</a:t>
            </a:r>
          </a:p>
        </p:txBody>
      </p:sp>
      <p:sp>
        <p:nvSpPr>
          <p:cNvPr id="8" name="">
            <a:extLst xmlns:a="http://schemas.openxmlformats.org/drawingml/2006/main">
              <a:ext uri="{FF2B5EF4-FFF2-40B4-BE49-F238E27FC236}">
                <a16:creationId xmlns:a16="http://schemas.microsoft.com/office/drawing/2014/main" id="{D935F910-0271-4E5E-B1C8-B88FCD878F17}"/>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9E68D8-4592-43AA-A9E6-5DD5DF15AC9B}"/>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s5e</a:t>
            </a:r>
          </a:p>
        </p:txBody>
      </p:sp>
      <p:sp>
        <p:nvSpPr>
          <p:cNvPr id="10" name="">
            <a:extLst xmlns:a="http://schemas.openxmlformats.org/drawingml/2006/main">
              <a:ext uri="{FF2B5EF4-FFF2-40B4-BE49-F238E27FC236}">
                <a16:creationId xmlns:a16="http://schemas.microsoft.com/office/drawing/2014/main" id="{25A8221A-AAD3-4A82-8FAB-1B1FB6369A4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Diagnosed refinement underfitting. Candidate R fails fresh assessment</a:t>
            </a:r>
          </a:p>
        </p:txBody>
      </p:sp>
      <p:sp>
        <p:nvSpPr>
          <p:cNvPr id="11" name="">
            <a:extLst xmlns:a="http://schemas.openxmlformats.org/drawingml/2006/main">
              <a:ext uri="{FF2B5EF4-FFF2-40B4-BE49-F238E27FC236}">
                <a16:creationId xmlns:a16="http://schemas.microsoft.com/office/drawing/2014/main" id="{79923D15-9561-4AAB-BAC1-10E0547D1C1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1C7D82-6697-4FA6-943B-E8D25888F7A7}"/>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s5p</a:t>
            </a:r>
          </a:p>
        </p:txBody>
      </p:sp>
      <p:sp>
        <p:nvSpPr>
          <p:cNvPr id="13" name="">
            <a:extLst xmlns:a="http://schemas.openxmlformats.org/drawingml/2006/main">
              <a:ext uri="{FF2B5EF4-FFF2-40B4-BE49-F238E27FC236}">
                <a16:creationId xmlns:a16="http://schemas.microsoft.com/office/drawing/2014/main" id="{BEAC8A5D-E089-4C37-A7EA-96AAC95D184D}"/>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Measurement not admitted. Conditional inference completes with no new uncertainty</a:t>
            </a:r>
          </a:p>
        </p:txBody>
      </p:sp>
      <p:sp>
        <p:nvSpPr>
          <p:cNvPr id="14" name="">
            <a:extLst xmlns:a="http://schemas.openxmlformats.org/drawingml/2006/main">
              <a:ext uri="{FF2B5EF4-FFF2-40B4-BE49-F238E27FC236}">
                <a16:creationId xmlns:a16="http://schemas.microsoft.com/office/drawing/2014/main" id="{1EE2E985-3606-48E8-B2DB-EE193BFEC2F2}"/>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B6</a:t>
            </a:r>
          </a:p>
        </p:txBody>
      </p:sp>
    </p:spTree>
    <p:extLst>
      <p:ext uri="{BB962C8B-B14F-4D97-AF65-F5344CB8AC3E}">
        <p14:creationId xmlns:p14="http://schemas.microsoft.com/office/powerpoint/2010/main" val="78724750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425AE09-BCAB-4271-9902-C4A2B7403CF3}"/>
              </a:ext>
            </a:extLst>
          </p:cNvPr>
          <p:cNvSpPr>
            <a:spLocks xmlns:a="http://schemas.openxmlformats.org/drawingml/2006/main" noGrp="1"/>
          </p:cNvSpPr>
          <p:nvPr/>
        </p:nvSpPr>
        <p:spPr>
          <a:xfrm xmlns:a="http://schemas.openxmlformats.org/drawingml/2006/main">
            <a:off x="609600" y="342900"/>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34B"/>
                </a:solidFill>
                <a:latin typeface="Helvetica Neue"/>
                <a:ea typeface="Helvetica Neue"/>
                <a:cs typeface="Helvetica Neue"/>
              </a:defRPr>
            </a:defPPr>
          </a:lstStyle>
          <a:p xmlns:a="http://schemas.openxmlformats.org/drawingml/2006/main">
            <a:pPr>
              <a:defRPr sz="2925" b="1">
                <a:solidFill>
                  <a:srgbClr val="16334B"/>
                </a:solidFill>
                <a:latin typeface="Helvetica Neue"/>
                <a:ea typeface="Helvetica Neue"/>
                <a:cs typeface="Helvetica Neue"/>
              </a:defRPr>
            </a:pPr>
            <a:r>
              <a:rPr sz="2925" b="1">
                <a:solidFill>
                  <a:srgbClr val="16334B"/>
                </a:solidFill>
                <a:latin typeface="Helvetica Neue"/>
                <a:ea typeface="Helvetica Neue"/>
                <a:cs typeface="Helvetica Neue"/>
              </a:rPr>
              <a:t>Backup: what the release can reproduce</a:t>
            </a:r>
          </a:p>
        </p:txBody>
      </p:sp>
      <p:sp>
        <p:nvSpPr>
          <p:cNvPr id="2" name="">
            <a:extLst xmlns:a="http://schemas.openxmlformats.org/drawingml/2006/main">
              <a:ext uri="{FF2B5EF4-FFF2-40B4-BE49-F238E27FC236}">
                <a16:creationId xmlns:a16="http://schemas.microsoft.com/office/drawing/2014/main" id="{F03567B5-DA86-4786-9ADC-A8207B956D1B}"/>
              </a:ext>
            </a:extLst>
          </p:cNvPr>
          <p:cNvSpPr>
            <a:spLocks xmlns:a="http://schemas.openxmlformats.org/drawingml/2006/main" noGrp="1"/>
          </p:cNvSpPr>
          <p:nvPr/>
        </p:nvSpPr>
        <p:spPr>
          <a:xfrm xmlns:a="http://schemas.openxmlformats.org/drawingml/2006/main">
            <a:off x="609600" y="1362075"/>
            <a:ext cx="10953750"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3AC1CD-DCB2-4F33-8EAB-FEF550FA3205}"/>
              </a:ext>
            </a:extLst>
          </p:cNvPr>
          <p:cNvSpPr>
            <a:spLocks xmlns:a="http://schemas.openxmlformats.org/drawingml/2006/main" noGrp="1"/>
          </p:cNvSpPr>
          <p:nvPr/>
        </p:nvSpPr>
        <p:spPr>
          <a:xfrm xmlns:a="http://schemas.openxmlformats.org/drawingml/2006/main">
            <a:off x="628650" y="16573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Available</a:t>
            </a:r>
          </a:p>
        </p:txBody>
      </p:sp>
      <p:sp>
        <p:nvSpPr>
          <p:cNvPr id="4" name="">
            <a:extLst xmlns:a="http://schemas.openxmlformats.org/drawingml/2006/main">
              <a:ext uri="{FF2B5EF4-FFF2-40B4-BE49-F238E27FC236}">
                <a16:creationId xmlns:a16="http://schemas.microsoft.com/office/drawing/2014/main" id="{5D2A8331-A4CE-4AF7-9311-8D967755BF26}"/>
              </a:ext>
            </a:extLst>
          </p:cNvPr>
          <p:cNvSpPr>
            <a:spLocks xmlns:a="http://schemas.openxmlformats.org/drawingml/2006/main" noGrp="1"/>
          </p:cNvSpPr>
          <p:nvPr/>
        </p:nvSpPr>
        <p:spPr>
          <a:xfrm xmlns:a="http://schemas.openxmlformats.org/drawingml/2006/main">
            <a:off x="3762375" y="16573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Article sources, analysis note, primer and saved inference inputs</a:t>
            </a:r>
          </a:p>
        </p:txBody>
      </p:sp>
      <p:sp>
        <p:nvSpPr>
          <p:cNvPr id="5" name="">
            <a:extLst xmlns:a="http://schemas.openxmlformats.org/drawingml/2006/main">
              <a:ext uri="{FF2B5EF4-FFF2-40B4-BE49-F238E27FC236}">
                <a16:creationId xmlns:a16="http://schemas.microsoft.com/office/drawing/2014/main" id="{BBAD8528-B516-43F2-8B13-907001D21C75}"/>
              </a:ext>
            </a:extLst>
          </p:cNvPr>
          <p:cNvSpPr>
            <a:spLocks xmlns:a="http://schemas.openxmlformats.org/drawingml/2006/main" noGrp="1"/>
          </p:cNvSpPr>
          <p:nvPr/>
        </p:nvSpPr>
        <p:spPr>
          <a:xfrm xmlns:a="http://schemas.openxmlformats.org/drawingml/2006/main">
            <a:off x="628650" y="25241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FB2FB4-ED6F-4B69-8B05-E38BAD617D3E}"/>
              </a:ext>
            </a:extLst>
          </p:cNvPr>
          <p:cNvSpPr>
            <a:spLocks xmlns:a="http://schemas.openxmlformats.org/drawingml/2006/main" noGrp="1"/>
          </p:cNvSpPr>
          <p:nvPr/>
        </p:nvSpPr>
        <p:spPr>
          <a:xfrm xmlns:a="http://schemas.openxmlformats.org/drawingml/2006/main">
            <a:off x="628650" y="26670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Replay</a:t>
            </a:r>
          </a:p>
        </p:txBody>
      </p:sp>
      <p:sp>
        <p:nvSpPr>
          <p:cNvPr id="7" name="">
            <a:extLst xmlns:a="http://schemas.openxmlformats.org/drawingml/2006/main">
              <a:ext uri="{FF2B5EF4-FFF2-40B4-BE49-F238E27FC236}">
                <a16:creationId xmlns:a16="http://schemas.microsoft.com/office/drawing/2014/main" id="{C6089544-DBE8-4A74-9504-0890018E8202}"/>
              </a:ext>
            </a:extLst>
          </p:cNvPr>
          <p:cNvSpPr>
            <a:spLocks xmlns:a="http://schemas.openxmlformats.org/drawingml/2006/main" noGrp="1"/>
          </p:cNvSpPr>
          <p:nvPr/>
        </p:nvSpPr>
        <p:spPr>
          <a:xfrm xmlns:a="http://schemas.openxmlformats.org/drawingml/2006/main">
            <a:off x="3762375" y="26670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Recompute conditional inference from sufficient products</a:t>
            </a:r>
          </a:p>
        </p:txBody>
      </p:sp>
      <p:sp>
        <p:nvSpPr>
          <p:cNvPr id="8" name="">
            <a:extLst xmlns:a="http://schemas.openxmlformats.org/drawingml/2006/main">
              <a:ext uri="{FF2B5EF4-FFF2-40B4-BE49-F238E27FC236}">
                <a16:creationId xmlns:a16="http://schemas.microsoft.com/office/drawing/2014/main" id="{89191B3A-A023-4829-934C-F7C90019E1D0}"/>
              </a:ext>
            </a:extLst>
          </p:cNvPr>
          <p:cNvSpPr>
            <a:spLocks xmlns:a="http://schemas.openxmlformats.org/drawingml/2006/main" noGrp="1"/>
          </p:cNvSpPr>
          <p:nvPr/>
        </p:nvSpPr>
        <p:spPr>
          <a:xfrm xmlns:a="http://schemas.openxmlformats.org/drawingml/2006/main">
            <a:off x="628650" y="353377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9D409A-4140-4746-8153-EA382EF76577}"/>
              </a:ext>
            </a:extLst>
          </p:cNvPr>
          <p:cNvSpPr>
            <a:spLocks xmlns:a="http://schemas.openxmlformats.org/drawingml/2006/main" noGrp="1"/>
          </p:cNvSpPr>
          <p:nvPr/>
        </p:nvSpPr>
        <p:spPr>
          <a:xfrm xmlns:a="http://schemas.openxmlformats.org/drawingml/2006/main">
            <a:off x="628650" y="36766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Different task</a:t>
            </a:r>
          </a:p>
        </p:txBody>
      </p:sp>
      <p:sp>
        <p:nvSpPr>
          <p:cNvPr id="10" name="">
            <a:extLst xmlns:a="http://schemas.openxmlformats.org/drawingml/2006/main">
              <a:ext uri="{FF2B5EF4-FFF2-40B4-BE49-F238E27FC236}">
                <a16:creationId xmlns:a16="http://schemas.microsoft.com/office/drawing/2014/main" id="{F9D8EC52-04EB-4BC4-B05C-3266E74C2CAC}"/>
              </a:ext>
            </a:extLst>
          </p:cNvPr>
          <p:cNvSpPr>
            <a:spLocks xmlns:a="http://schemas.openxmlformats.org/drawingml/2006/main" noGrp="1"/>
          </p:cNvSpPr>
          <p:nvPr/>
        </p:nvSpPr>
        <p:spPr>
          <a:xfrm xmlns:a="http://schemas.openxmlformats.org/drawingml/2006/main">
            <a:off x="3762375" y="367665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Regenerate training and calibration pseudo-experiments end to end</a:t>
            </a:r>
          </a:p>
        </p:txBody>
      </p:sp>
      <p:sp>
        <p:nvSpPr>
          <p:cNvPr id="11" name="">
            <a:extLst xmlns:a="http://schemas.openxmlformats.org/drawingml/2006/main">
              <a:ext uri="{FF2B5EF4-FFF2-40B4-BE49-F238E27FC236}">
                <a16:creationId xmlns:a16="http://schemas.microsoft.com/office/drawing/2014/main" id="{43A9CAB3-8B11-4F31-BAAE-A5BEC70417A9}"/>
              </a:ext>
            </a:extLst>
          </p:cNvPr>
          <p:cNvSpPr>
            <a:spLocks xmlns:a="http://schemas.openxmlformats.org/drawingml/2006/main" noGrp="1"/>
          </p:cNvSpPr>
          <p:nvPr/>
        </p:nvSpPr>
        <p:spPr>
          <a:xfrm xmlns:a="http://schemas.openxmlformats.org/drawingml/2006/main">
            <a:off x="628650" y="4543425"/>
            <a:ext cx="108966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3F0ECB-4656-43EA-83FE-79D42538A98D}"/>
              </a:ext>
            </a:extLst>
          </p:cNvPr>
          <p:cNvSpPr>
            <a:spLocks xmlns:a="http://schemas.openxmlformats.org/drawingml/2006/main" noGrp="1"/>
          </p:cNvSpPr>
          <p:nvPr/>
        </p:nvSpPr>
        <p:spPr>
          <a:xfrm xmlns:a="http://schemas.openxmlformats.org/drawingml/2006/main">
            <a:off x="628650" y="46863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87F8C"/>
                </a:solidFill>
                <a:latin typeface="Helvetica Neue"/>
                <a:ea typeface="Helvetica Neue"/>
                <a:cs typeface="Helvetica Neue"/>
              </a:defRPr>
            </a:defPPr>
          </a:lstStyle>
          <a:p xmlns:a="http://schemas.openxmlformats.org/drawingml/2006/main">
            <a:pPr>
              <a:defRPr sz="2025" b="1">
                <a:solidFill>
                  <a:srgbClr val="087F8C"/>
                </a:solidFill>
                <a:latin typeface="Helvetica Neue"/>
                <a:ea typeface="Helvetica Neue"/>
                <a:cs typeface="Helvetica Neue"/>
              </a:defRPr>
            </a:pPr>
            <a:r>
              <a:rPr sz="2025" b="1">
                <a:solidFill>
                  <a:srgbClr val="087F8C"/>
                </a:solidFill>
                <a:latin typeface="Helvetica Neue"/>
                <a:ea typeface="Helvetica Neue"/>
                <a:cs typeface="Helvetica Neue"/>
              </a:rPr>
              <a:t>Release limits</a:t>
            </a:r>
          </a:p>
        </p:txBody>
      </p:sp>
      <p:sp>
        <p:nvSpPr>
          <p:cNvPr id="13" name="">
            <a:extLst xmlns:a="http://schemas.openxmlformats.org/drawingml/2006/main">
              <a:ext uri="{FF2B5EF4-FFF2-40B4-BE49-F238E27FC236}">
                <a16:creationId xmlns:a16="http://schemas.microsoft.com/office/drawing/2014/main" id="{F5D643C1-641B-4119-B483-30BAC3826555}"/>
              </a:ext>
            </a:extLst>
          </p:cNvPr>
          <p:cNvSpPr>
            <a:spLocks xmlns:a="http://schemas.openxmlformats.org/drawingml/2006/main" noGrp="1"/>
          </p:cNvSpPr>
          <p:nvPr/>
        </p:nvSpPr>
        <p:spPr>
          <a:xfrm xmlns:a="http://schemas.openxmlformats.org/drawingml/2006/main">
            <a:off x="3762375" y="4686300"/>
            <a:ext cx="776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34B"/>
                </a:solidFill>
                <a:latin typeface="Helvetica Neue"/>
                <a:ea typeface="Helvetica Neue"/>
                <a:cs typeface="Helvetica Neue"/>
              </a:defRPr>
            </a:defPPr>
          </a:lstStyle>
          <a:p xmlns:a="http://schemas.openxmlformats.org/drawingml/2006/main">
            <a:pPr>
              <a:defRPr sz="2175" b="0">
                <a:solidFill>
                  <a:srgbClr val="16334B"/>
                </a:solidFill>
                <a:latin typeface="Helvetica Neue"/>
                <a:ea typeface="Helvetica Neue"/>
                <a:cs typeface="Helvetica Neue"/>
              </a:defRPr>
            </a:pPr>
            <a:r>
              <a:rPr sz="2175" b="0">
                <a:solidFill>
                  <a:srgbClr val="16334B"/>
                </a:solidFill>
                <a:latin typeface="Helvetica Neue"/>
                <a:ea typeface="Helvetica Neue"/>
                <a:cs typeface="Helvetica Neue"/>
              </a:rPr>
              <a:t>Several closure, uncertainty and sensitivity results remain outside RC4 replay</a:t>
            </a:r>
          </a:p>
        </p:txBody>
      </p:sp>
      <p:sp>
        <p:nvSpPr>
          <p:cNvPr id="14" name="">
            <a:extLst xmlns:a="http://schemas.openxmlformats.org/drawingml/2006/main">
              <a:ext uri="{FF2B5EF4-FFF2-40B4-BE49-F238E27FC236}">
                <a16:creationId xmlns:a16="http://schemas.microsoft.com/office/drawing/2014/main" id="{E1F7EDE8-0BDC-415E-A395-86A0B1F616E5}"/>
              </a:ext>
            </a:extLst>
          </p:cNvPr>
          <p:cNvSpPr>
            <a:spLocks xmlns:a="http://schemas.openxmlformats.org/drawingml/2006/main" noGrp="1"/>
          </p:cNvSpPr>
          <p:nvPr/>
        </p:nvSpPr>
        <p:spPr>
          <a:xfrm xmlns:a="http://schemas.openxmlformats.org/drawingml/2006/main">
            <a:off x="11591925" y="64198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06474"/>
                </a:solidFill>
                <a:latin typeface="Helvetica Neue"/>
                <a:ea typeface="Helvetica Neue"/>
                <a:cs typeface="Helvetica Neue"/>
              </a:defRPr>
            </a:defPPr>
          </a:lstStyle>
          <a:p xmlns:a="http://schemas.openxmlformats.org/drawingml/2006/main">
            <a:pPr>
              <a:defRPr sz="1425" b="0">
                <a:solidFill>
                  <a:srgbClr val="506474"/>
                </a:solidFill>
                <a:latin typeface="Helvetica Neue"/>
                <a:ea typeface="Helvetica Neue"/>
                <a:cs typeface="Helvetica Neue"/>
              </a:defRPr>
            </a:pPr>
            <a:r>
              <a:rPr sz="1425" b="0">
                <a:solidFill>
                  <a:srgbClr val="506474"/>
                </a:solidFill>
                <a:latin typeface="Helvetica Neue"/>
                <a:ea typeface="Helvetica Neue"/>
                <a:cs typeface="Helvetica Neue"/>
              </a:rPr>
              <a:t>B7</a:t>
            </a:r>
          </a:p>
        </p:txBody>
      </p:sp>
    </p:spTree>
    <p:extLst>
      <p:ext uri="{BB962C8B-B14F-4D97-AF65-F5344CB8AC3E}">
        <p14:creationId xmlns:p14="http://schemas.microsoft.com/office/powerpoint/2010/main" val="11326610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2026-10-10T17:25:18.8770000Z</dcterms:created>
  <dcterms:modified xsi:type="dcterms:W3CDTF">2026-10-10T17:25:18.8770000Z</dcterms:modified>
</coreProperties>
</file>